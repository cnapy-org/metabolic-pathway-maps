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57" r:id="rId3"/>
    <p:sldId id="258" r:id="rId4"/>
    <p:sldId id="263" r:id="rId5"/>
    <p:sldId id="262" r:id="rId6"/>
    <p:sldId id="285" r:id="rId7"/>
    <p:sldId id="286" r:id="rId8"/>
    <p:sldId id="304" r:id="rId9"/>
    <p:sldId id="306" r:id="rId10"/>
    <p:sldId id="274" r:id="rId11"/>
    <p:sldId id="301" r:id="rId12"/>
    <p:sldId id="288" r:id="rId13"/>
    <p:sldId id="289" r:id="rId14"/>
    <p:sldId id="275" r:id="rId15"/>
    <p:sldId id="293" r:id="rId16"/>
    <p:sldId id="296" r:id="rId17"/>
    <p:sldId id="295" r:id="rId18"/>
    <p:sldId id="278" r:id="rId19"/>
    <p:sldId id="299" r:id="rId20"/>
    <p:sldId id="298" r:id="rId21"/>
    <p:sldId id="294" r:id="rId22"/>
    <p:sldId id="283" r:id="rId23"/>
    <p:sldId id="282" r:id="rId24"/>
    <p:sldId id="303" r:id="rId25"/>
    <p:sldId id="300" r:id="rId26"/>
    <p:sldId id="305" r:id="rId27"/>
    <p:sldId id="307" r:id="rId28"/>
    <p:sldId id="308" r:id="rId29"/>
    <p:sldId id="291" r:id="rId30"/>
    <p:sldId id="292" r:id="rId31"/>
    <p:sldId id="29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504069D-BCEF-44B2-B83C-E4EF29DE468C}">
          <p14:sldIdLst>
            <p14:sldId id="256"/>
          </p14:sldIdLst>
        </p14:section>
        <p14:section name="Motivation" id="{769E4990-780C-499C-BEDA-039A6855C4B0}">
          <p14:sldIdLst>
            <p14:sldId id="257"/>
            <p14:sldId id="258"/>
            <p14:sldId id="263"/>
            <p14:sldId id="262"/>
          </p14:sldIdLst>
        </p14:section>
        <p14:section name="CBMViz Introduction" id="{BC0B4AF6-B123-4621-B1D5-51FF439CA3A4}">
          <p14:sldIdLst>
            <p14:sldId id="285"/>
            <p14:sldId id="286"/>
            <p14:sldId id="304"/>
            <p14:sldId id="306"/>
          </p14:sldIdLst>
        </p14:section>
        <p14:section name="Current Features + Examples" id="{880768C0-A543-452C-83B7-9802B056804C}">
          <p14:sldIdLst>
            <p14:sldId id="274"/>
            <p14:sldId id="301"/>
            <p14:sldId id="288"/>
            <p14:sldId id="289"/>
            <p14:sldId id="275"/>
            <p14:sldId id="293"/>
            <p14:sldId id="296"/>
            <p14:sldId id="295"/>
            <p14:sldId id="278"/>
            <p14:sldId id="299"/>
            <p14:sldId id="298"/>
            <p14:sldId id="294"/>
          </p14:sldIdLst>
        </p14:section>
        <p14:section name="Use Cases" id="{EE866667-1F19-4308-81BE-B22C464D14D0}">
          <p14:sldIdLst>
            <p14:sldId id="283"/>
            <p14:sldId id="282"/>
            <p14:sldId id="303"/>
          </p14:sldIdLst>
        </p14:section>
        <p14:section name="Ending and Credits" id="{3E05CDC3-0055-410E-8928-C608079A6AD6}">
          <p14:sldIdLst>
            <p14:sldId id="300"/>
            <p14:sldId id="305"/>
          </p14:sldIdLst>
        </p14:section>
        <p14:section name="Why not just use Mimoza?" id="{FE55FBA0-5175-4D4C-920E-5A2348A9081E}">
          <p14:sldIdLst>
            <p14:sldId id="307"/>
            <p14:sldId id="308"/>
          </p14:sldIdLst>
        </p14:section>
        <p14:section name="Additional Examples" id="{348BF132-639C-4357-81D3-BFDA3322365D}">
          <p14:sldIdLst>
            <p14:sldId id="291"/>
            <p14:sldId id="292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D21D"/>
    <a:srgbClr val="C4D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1" autoAdjust="0"/>
    <p:restoredTop sz="73684" autoAdjust="0"/>
  </p:normalViewPr>
  <p:slideViewPr>
    <p:cSldViewPr snapToGrid="0">
      <p:cViewPr varScale="1">
        <p:scale>
          <a:sx n="64" d="100"/>
          <a:sy n="64" d="100"/>
        </p:scale>
        <p:origin x="102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F89A46-F9E7-4DA9-9124-AD32C75958D0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E8CC8-C423-4F1C-BA0D-1E05123FB58E}">
      <dgm:prSet phldrT="[Text]"/>
      <dgm:spPr/>
      <dgm:t>
        <a:bodyPr/>
        <a:lstStyle/>
        <a:p>
          <a:r>
            <a:rPr lang="en-US" dirty="0"/>
            <a:t>read SBML file</a:t>
          </a:r>
        </a:p>
      </dgm:t>
    </dgm:pt>
    <dgm:pt modelId="{E5BE0269-CBCA-4AB6-9919-A1EC72FD751A}" type="parTrans" cxnId="{505C61B9-2E48-4EB3-95B6-A73D0B8977BC}">
      <dgm:prSet/>
      <dgm:spPr/>
      <dgm:t>
        <a:bodyPr/>
        <a:lstStyle/>
        <a:p>
          <a:endParaRPr lang="en-US"/>
        </a:p>
      </dgm:t>
    </dgm:pt>
    <dgm:pt modelId="{D661735C-14A4-436A-89D5-96951DB43337}" type="sibTrans" cxnId="{505C61B9-2E48-4EB3-95B6-A73D0B8977BC}">
      <dgm:prSet/>
      <dgm:spPr/>
      <dgm:t>
        <a:bodyPr/>
        <a:lstStyle/>
        <a:p>
          <a:endParaRPr lang="en-US"/>
        </a:p>
      </dgm:t>
    </dgm:pt>
    <dgm:pt modelId="{CAA6B98A-4E11-4B46-8D54-F4465E958721}">
      <dgm:prSet phldrT="[Text]"/>
      <dgm:spPr/>
      <dgm:t>
        <a:bodyPr/>
        <a:lstStyle/>
        <a:p>
          <a:r>
            <a:rPr lang="en-US" dirty="0"/>
            <a:t>apply color</a:t>
          </a:r>
        </a:p>
      </dgm:t>
    </dgm:pt>
    <dgm:pt modelId="{47CEDA82-E7C7-4F53-96F1-1876387577FA}" type="parTrans" cxnId="{5EC30FAB-3032-4283-9FD6-1CA60AD0C964}">
      <dgm:prSet/>
      <dgm:spPr/>
      <dgm:t>
        <a:bodyPr/>
        <a:lstStyle/>
        <a:p>
          <a:endParaRPr lang="en-US"/>
        </a:p>
      </dgm:t>
    </dgm:pt>
    <dgm:pt modelId="{2FE92388-FFE3-469D-82CC-EEAB4FD3EF78}" type="sibTrans" cxnId="{5EC30FAB-3032-4283-9FD6-1CA60AD0C964}">
      <dgm:prSet/>
      <dgm:spPr/>
      <dgm:t>
        <a:bodyPr/>
        <a:lstStyle/>
        <a:p>
          <a:endParaRPr lang="en-US"/>
        </a:p>
      </dgm:t>
    </dgm:pt>
    <dgm:pt modelId="{19D58873-12AE-4AA9-A85A-928233C6A701}">
      <dgm:prSet phldrT="[Text]"/>
      <dgm:spPr/>
      <dgm:t>
        <a:bodyPr/>
        <a:lstStyle/>
        <a:p>
          <a:r>
            <a:rPr lang="en-US" dirty="0"/>
            <a:t>render and export results</a:t>
          </a:r>
        </a:p>
      </dgm:t>
    </dgm:pt>
    <dgm:pt modelId="{5BB4A044-4B42-42FC-AC9E-A579694D6C08}" type="parTrans" cxnId="{77515C0C-0A6C-4B1E-B58E-85FDF0217FE5}">
      <dgm:prSet/>
      <dgm:spPr/>
      <dgm:t>
        <a:bodyPr/>
        <a:lstStyle/>
        <a:p>
          <a:endParaRPr lang="en-US"/>
        </a:p>
      </dgm:t>
    </dgm:pt>
    <dgm:pt modelId="{4F8D4B7B-F713-4FDF-B861-144B75F2F3D3}" type="sibTrans" cxnId="{77515C0C-0A6C-4B1E-B58E-85FDF0217FE5}">
      <dgm:prSet/>
      <dgm:spPr/>
      <dgm:t>
        <a:bodyPr/>
        <a:lstStyle/>
        <a:p>
          <a:endParaRPr lang="en-US"/>
        </a:p>
      </dgm:t>
    </dgm:pt>
    <dgm:pt modelId="{5378FC6F-926B-46E4-93EF-872023D41876}">
      <dgm:prSet/>
      <dgm:spPr/>
      <dgm:t>
        <a:bodyPr/>
        <a:lstStyle/>
        <a:p>
          <a:r>
            <a:rPr lang="en-US" dirty="0"/>
            <a:t>create layout</a:t>
          </a:r>
        </a:p>
      </dgm:t>
    </dgm:pt>
    <dgm:pt modelId="{11088EA3-B168-4641-8082-260210A55C1E}" type="parTrans" cxnId="{A2DA6353-BAAB-4D89-97B2-47959ECEC575}">
      <dgm:prSet/>
      <dgm:spPr/>
      <dgm:t>
        <a:bodyPr/>
        <a:lstStyle/>
        <a:p>
          <a:endParaRPr lang="en-US"/>
        </a:p>
      </dgm:t>
    </dgm:pt>
    <dgm:pt modelId="{AA4602DA-EF3D-4AE4-A903-91E1CD51F7FC}" type="sibTrans" cxnId="{A2DA6353-BAAB-4D89-97B2-47959ECEC575}">
      <dgm:prSet/>
      <dgm:spPr/>
      <dgm:t>
        <a:bodyPr/>
        <a:lstStyle/>
        <a:p>
          <a:endParaRPr lang="en-US"/>
        </a:p>
      </dgm:t>
    </dgm:pt>
    <dgm:pt modelId="{2C9B5EA9-8AB9-4B6D-AEA4-80834560A4E5}" type="pres">
      <dgm:prSet presAssocID="{9AF89A46-F9E7-4DA9-9124-AD32C75958D0}" presName="rootnode" presStyleCnt="0">
        <dgm:presLayoutVars>
          <dgm:chMax/>
          <dgm:chPref/>
          <dgm:dir/>
          <dgm:animLvl val="lvl"/>
        </dgm:presLayoutVars>
      </dgm:prSet>
      <dgm:spPr/>
    </dgm:pt>
    <dgm:pt modelId="{18FD8120-728A-4DA7-AC16-FF1A16C21EBF}" type="pres">
      <dgm:prSet presAssocID="{0D4E8CC8-C423-4F1C-BA0D-1E05123FB58E}" presName="composite" presStyleCnt="0"/>
      <dgm:spPr/>
    </dgm:pt>
    <dgm:pt modelId="{EB41AE46-D6ED-488B-8AEC-02DBD84C9E12}" type="pres">
      <dgm:prSet presAssocID="{0D4E8CC8-C423-4F1C-BA0D-1E05123FB58E}" presName="bentUpArrow1" presStyleLbl="alignImgPlace1" presStyleIdx="0" presStyleCnt="3"/>
      <dgm:spPr/>
    </dgm:pt>
    <dgm:pt modelId="{769A4A56-51D2-483F-9DB1-05CE70C5B2E6}" type="pres">
      <dgm:prSet presAssocID="{0D4E8CC8-C423-4F1C-BA0D-1E05123FB58E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13A5B060-34C9-4224-A142-7996A5711097}" type="pres">
      <dgm:prSet presAssocID="{0D4E8CC8-C423-4F1C-BA0D-1E05123FB58E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091C4B7-FB8E-4DDA-B47E-177AE79888CC}" type="pres">
      <dgm:prSet presAssocID="{D661735C-14A4-436A-89D5-96951DB43337}" presName="sibTrans" presStyleCnt="0"/>
      <dgm:spPr/>
    </dgm:pt>
    <dgm:pt modelId="{156C8A42-3762-4C8A-8A83-197763AB5623}" type="pres">
      <dgm:prSet presAssocID="{5378FC6F-926B-46E4-93EF-872023D41876}" presName="composite" presStyleCnt="0"/>
      <dgm:spPr/>
    </dgm:pt>
    <dgm:pt modelId="{8F5E08BF-4A38-4377-A158-A0D199B29C74}" type="pres">
      <dgm:prSet presAssocID="{5378FC6F-926B-46E4-93EF-872023D41876}" presName="bentUpArrow1" presStyleLbl="alignImgPlace1" presStyleIdx="1" presStyleCnt="3"/>
      <dgm:spPr/>
    </dgm:pt>
    <dgm:pt modelId="{4604226E-359D-467A-9D44-93F9405B03B7}" type="pres">
      <dgm:prSet presAssocID="{5378FC6F-926B-46E4-93EF-872023D41876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95B14C8A-AF9D-43BB-80E7-1F146B94A3DD}" type="pres">
      <dgm:prSet presAssocID="{5378FC6F-926B-46E4-93EF-872023D41876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A6242246-521C-43D1-82A2-59ED4BC3CFE3}" type="pres">
      <dgm:prSet presAssocID="{AA4602DA-EF3D-4AE4-A903-91E1CD51F7FC}" presName="sibTrans" presStyleCnt="0"/>
      <dgm:spPr/>
    </dgm:pt>
    <dgm:pt modelId="{020D5FFB-8803-4E9A-8779-77F8F3484F9C}" type="pres">
      <dgm:prSet presAssocID="{CAA6B98A-4E11-4B46-8D54-F4465E958721}" presName="composite" presStyleCnt="0"/>
      <dgm:spPr/>
    </dgm:pt>
    <dgm:pt modelId="{78A878C7-4C1A-4C66-A6EC-0E79CA03AB34}" type="pres">
      <dgm:prSet presAssocID="{CAA6B98A-4E11-4B46-8D54-F4465E958721}" presName="bentUpArrow1" presStyleLbl="alignImgPlace1" presStyleIdx="2" presStyleCnt="3"/>
      <dgm:spPr/>
    </dgm:pt>
    <dgm:pt modelId="{7C60AE9F-F695-4FB1-9125-2EDEDB8F49E9}" type="pres">
      <dgm:prSet presAssocID="{CAA6B98A-4E11-4B46-8D54-F4465E958721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94036A45-739B-4F0C-AF94-F93CDB2D572F}" type="pres">
      <dgm:prSet presAssocID="{CAA6B98A-4E11-4B46-8D54-F4465E958721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DE117443-3788-4E6D-8651-24CF32E58D79}" type="pres">
      <dgm:prSet presAssocID="{2FE92388-FFE3-469D-82CC-EEAB4FD3EF78}" presName="sibTrans" presStyleCnt="0"/>
      <dgm:spPr/>
    </dgm:pt>
    <dgm:pt modelId="{AE392699-5545-4C10-B246-6D22EEFC19A9}" type="pres">
      <dgm:prSet presAssocID="{19D58873-12AE-4AA9-A85A-928233C6A701}" presName="composite" presStyleCnt="0"/>
      <dgm:spPr/>
    </dgm:pt>
    <dgm:pt modelId="{39A206A7-8392-4531-8376-B03E07272C09}" type="pres">
      <dgm:prSet presAssocID="{19D58873-12AE-4AA9-A85A-928233C6A701}" presName="ParentText" presStyleLbl="node1" presStyleIdx="3" presStyleCnt="4" custScaleX="244836">
        <dgm:presLayoutVars>
          <dgm:chMax val="1"/>
          <dgm:chPref val="1"/>
          <dgm:bulletEnabled val="1"/>
        </dgm:presLayoutVars>
      </dgm:prSet>
      <dgm:spPr/>
    </dgm:pt>
  </dgm:ptLst>
  <dgm:cxnLst>
    <dgm:cxn modelId="{A2DA6353-BAAB-4D89-97B2-47959ECEC575}" srcId="{9AF89A46-F9E7-4DA9-9124-AD32C75958D0}" destId="{5378FC6F-926B-46E4-93EF-872023D41876}" srcOrd="1" destOrd="0" parTransId="{11088EA3-B168-4641-8082-260210A55C1E}" sibTransId="{AA4602DA-EF3D-4AE4-A903-91E1CD51F7FC}"/>
    <dgm:cxn modelId="{AAD73D67-623A-4BCF-B59E-0E399E781111}" type="presOf" srcId="{CAA6B98A-4E11-4B46-8D54-F4465E958721}" destId="{7C60AE9F-F695-4FB1-9125-2EDEDB8F49E9}" srcOrd="0" destOrd="0" presId="urn:microsoft.com/office/officeart/2005/8/layout/StepDownProcess"/>
    <dgm:cxn modelId="{505C61B9-2E48-4EB3-95B6-A73D0B8977BC}" srcId="{9AF89A46-F9E7-4DA9-9124-AD32C75958D0}" destId="{0D4E8CC8-C423-4F1C-BA0D-1E05123FB58E}" srcOrd="0" destOrd="0" parTransId="{E5BE0269-CBCA-4AB6-9919-A1EC72FD751A}" sibTransId="{D661735C-14A4-436A-89D5-96951DB43337}"/>
    <dgm:cxn modelId="{5EC30FAB-3032-4283-9FD6-1CA60AD0C964}" srcId="{9AF89A46-F9E7-4DA9-9124-AD32C75958D0}" destId="{CAA6B98A-4E11-4B46-8D54-F4465E958721}" srcOrd="2" destOrd="0" parTransId="{47CEDA82-E7C7-4F53-96F1-1876387577FA}" sibTransId="{2FE92388-FFE3-469D-82CC-EEAB4FD3EF78}"/>
    <dgm:cxn modelId="{AD4A3390-000C-4866-B966-4C47AF55070F}" type="presOf" srcId="{19D58873-12AE-4AA9-A85A-928233C6A701}" destId="{39A206A7-8392-4531-8376-B03E07272C09}" srcOrd="0" destOrd="0" presId="urn:microsoft.com/office/officeart/2005/8/layout/StepDownProcess"/>
    <dgm:cxn modelId="{A4A06008-47DE-48DB-926E-D5A8149FCEF4}" type="presOf" srcId="{5378FC6F-926B-46E4-93EF-872023D41876}" destId="{4604226E-359D-467A-9D44-93F9405B03B7}" srcOrd="0" destOrd="0" presId="urn:microsoft.com/office/officeart/2005/8/layout/StepDownProcess"/>
    <dgm:cxn modelId="{77515C0C-0A6C-4B1E-B58E-85FDF0217FE5}" srcId="{9AF89A46-F9E7-4DA9-9124-AD32C75958D0}" destId="{19D58873-12AE-4AA9-A85A-928233C6A701}" srcOrd="3" destOrd="0" parTransId="{5BB4A044-4B42-42FC-AC9E-A579694D6C08}" sibTransId="{4F8D4B7B-F713-4FDF-B861-144B75F2F3D3}"/>
    <dgm:cxn modelId="{59796C6F-33B0-41EE-A019-39CB1E848E2E}" type="presOf" srcId="{9AF89A46-F9E7-4DA9-9124-AD32C75958D0}" destId="{2C9B5EA9-8AB9-4B6D-AEA4-80834560A4E5}" srcOrd="0" destOrd="0" presId="urn:microsoft.com/office/officeart/2005/8/layout/StepDownProcess"/>
    <dgm:cxn modelId="{7A7F08AE-9B5D-4A1C-B45A-0AA666B5E28E}" type="presOf" srcId="{0D4E8CC8-C423-4F1C-BA0D-1E05123FB58E}" destId="{769A4A56-51D2-483F-9DB1-05CE70C5B2E6}" srcOrd="0" destOrd="0" presId="urn:microsoft.com/office/officeart/2005/8/layout/StepDownProcess"/>
    <dgm:cxn modelId="{B5703A23-528E-45EE-9EB2-8AA525E5E180}" type="presParOf" srcId="{2C9B5EA9-8AB9-4B6D-AEA4-80834560A4E5}" destId="{18FD8120-728A-4DA7-AC16-FF1A16C21EBF}" srcOrd="0" destOrd="0" presId="urn:microsoft.com/office/officeart/2005/8/layout/StepDownProcess"/>
    <dgm:cxn modelId="{09353B1E-3F7B-43AC-A56E-1A2EC658DDF1}" type="presParOf" srcId="{18FD8120-728A-4DA7-AC16-FF1A16C21EBF}" destId="{EB41AE46-D6ED-488B-8AEC-02DBD84C9E12}" srcOrd="0" destOrd="0" presId="urn:microsoft.com/office/officeart/2005/8/layout/StepDownProcess"/>
    <dgm:cxn modelId="{78D00D8C-5BBA-46E1-822B-B2402581D7D3}" type="presParOf" srcId="{18FD8120-728A-4DA7-AC16-FF1A16C21EBF}" destId="{769A4A56-51D2-483F-9DB1-05CE70C5B2E6}" srcOrd="1" destOrd="0" presId="urn:microsoft.com/office/officeart/2005/8/layout/StepDownProcess"/>
    <dgm:cxn modelId="{ABB77707-4BA2-4142-9835-36A6C237D35C}" type="presParOf" srcId="{18FD8120-728A-4DA7-AC16-FF1A16C21EBF}" destId="{13A5B060-34C9-4224-A142-7996A5711097}" srcOrd="2" destOrd="0" presId="urn:microsoft.com/office/officeart/2005/8/layout/StepDownProcess"/>
    <dgm:cxn modelId="{3C233E12-FF5D-4F86-834A-5A393BFF1774}" type="presParOf" srcId="{2C9B5EA9-8AB9-4B6D-AEA4-80834560A4E5}" destId="{F091C4B7-FB8E-4DDA-B47E-177AE79888CC}" srcOrd="1" destOrd="0" presId="urn:microsoft.com/office/officeart/2005/8/layout/StepDownProcess"/>
    <dgm:cxn modelId="{ECAC8FC7-7E10-49E8-9017-8155374EF053}" type="presParOf" srcId="{2C9B5EA9-8AB9-4B6D-AEA4-80834560A4E5}" destId="{156C8A42-3762-4C8A-8A83-197763AB5623}" srcOrd="2" destOrd="0" presId="urn:microsoft.com/office/officeart/2005/8/layout/StepDownProcess"/>
    <dgm:cxn modelId="{6A7177B8-867E-4A9F-9882-BAC19B3E2709}" type="presParOf" srcId="{156C8A42-3762-4C8A-8A83-197763AB5623}" destId="{8F5E08BF-4A38-4377-A158-A0D199B29C74}" srcOrd="0" destOrd="0" presId="urn:microsoft.com/office/officeart/2005/8/layout/StepDownProcess"/>
    <dgm:cxn modelId="{829E982B-6659-4A34-ADC5-3159164292BF}" type="presParOf" srcId="{156C8A42-3762-4C8A-8A83-197763AB5623}" destId="{4604226E-359D-467A-9D44-93F9405B03B7}" srcOrd="1" destOrd="0" presId="urn:microsoft.com/office/officeart/2005/8/layout/StepDownProcess"/>
    <dgm:cxn modelId="{66012F6D-9D3F-4F32-BE9F-4368E3EE7B9F}" type="presParOf" srcId="{156C8A42-3762-4C8A-8A83-197763AB5623}" destId="{95B14C8A-AF9D-43BB-80E7-1F146B94A3DD}" srcOrd="2" destOrd="0" presId="urn:microsoft.com/office/officeart/2005/8/layout/StepDownProcess"/>
    <dgm:cxn modelId="{EFE04455-95D8-4454-8F01-776269113AC4}" type="presParOf" srcId="{2C9B5EA9-8AB9-4B6D-AEA4-80834560A4E5}" destId="{A6242246-521C-43D1-82A2-59ED4BC3CFE3}" srcOrd="3" destOrd="0" presId="urn:microsoft.com/office/officeart/2005/8/layout/StepDownProcess"/>
    <dgm:cxn modelId="{6B81A133-7709-490B-B03B-0A96D142AA75}" type="presParOf" srcId="{2C9B5EA9-8AB9-4B6D-AEA4-80834560A4E5}" destId="{020D5FFB-8803-4E9A-8779-77F8F3484F9C}" srcOrd="4" destOrd="0" presId="urn:microsoft.com/office/officeart/2005/8/layout/StepDownProcess"/>
    <dgm:cxn modelId="{B571AB93-DBE5-4F39-9BAC-94CA3C4DA6F4}" type="presParOf" srcId="{020D5FFB-8803-4E9A-8779-77F8F3484F9C}" destId="{78A878C7-4C1A-4C66-A6EC-0E79CA03AB34}" srcOrd="0" destOrd="0" presId="urn:microsoft.com/office/officeart/2005/8/layout/StepDownProcess"/>
    <dgm:cxn modelId="{495BE6AE-4A62-41C0-B2A0-4B612A5F7873}" type="presParOf" srcId="{020D5FFB-8803-4E9A-8779-77F8F3484F9C}" destId="{7C60AE9F-F695-4FB1-9125-2EDEDB8F49E9}" srcOrd="1" destOrd="0" presId="urn:microsoft.com/office/officeart/2005/8/layout/StepDownProcess"/>
    <dgm:cxn modelId="{EB44A4CA-4E28-4232-9E1A-F38F366D4BC5}" type="presParOf" srcId="{020D5FFB-8803-4E9A-8779-77F8F3484F9C}" destId="{94036A45-739B-4F0C-AF94-F93CDB2D572F}" srcOrd="2" destOrd="0" presId="urn:microsoft.com/office/officeart/2005/8/layout/StepDownProcess"/>
    <dgm:cxn modelId="{D638AFC9-0934-44F3-9AAE-F23B38721C2E}" type="presParOf" srcId="{2C9B5EA9-8AB9-4B6D-AEA4-80834560A4E5}" destId="{DE117443-3788-4E6D-8651-24CF32E58D79}" srcOrd="5" destOrd="0" presId="urn:microsoft.com/office/officeart/2005/8/layout/StepDownProcess"/>
    <dgm:cxn modelId="{D2337353-BF20-4A91-A93D-AF1F01A8C6A8}" type="presParOf" srcId="{2C9B5EA9-8AB9-4B6D-AEA4-80834560A4E5}" destId="{AE392699-5545-4C10-B246-6D22EEFC19A9}" srcOrd="6" destOrd="0" presId="urn:microsoft.com/office/officeart/2005/8/layout/StepDownProcess"/>
    <dgm:cxn modelId="{15B46357-3D43-4490-8BFC-0291FB353E0A}" type="presParOf" srcId="{AE392699-5545-4C10-B246-6D22EEFC19A9}" destId="{39A206A7-8392-4531-8376-B03E07272C0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1AE46-D6ED-488B-8AEC-02DBD84C9E12}">
      <dsp:nvSpPr>
        <dsp:cNvPr id="0" name=""/>
        <dsp:cNvSpPr/>
      </dsp:nvSpPr>
      <dsp:spPr>
        <a:xfrm rot="5400000">
          <a:off x="4787660" y="1099238"/>
          <a:ext cx="965370" cy="10990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A4A56-51D2-483F-9DB1-05CE70C5B2E6}">
      <dsp:nvSpPr>
        <dsp:cNvPr id="0" name=""/>
        <dsp:cNvSpPr/>
      </dsp:nvSpPr>
      <dsp:spPr>
        <a:xfrm>
          <a:off x="4531895" y="29106"/>
          <a:ext cx="1625115" cy="11375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read SBML file</a:t>
          </a:r>
        </a:p>
      </dsp:txBody>
      <dsp:txXfrm>
        <a:off x="4587435" y="84646"/>
        <a:ext cx="1514035" cy="1026448"/>
      </dsp:txXfrm>
    </dsp:sp>
    <dsp:sp modelId="{13A5B060-34C9-4224-A142-7996A5711097}">
      <dsp:nvSpPr>
        <dsp:cNvPr id="0" name=""/>
        <dsp:cNvSpPr/>
      </dsp:nvSpPr>
      <dsp:spPr>
        <a:xfrm>
          <a:off x="6157011" y="137595"/>
          <a:ext cx="1181954" cy="91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5E08BF-4A38-4377-A158-A0D199B29C74}">
      <dsp:nvSpPr>
        <dsp:cNvPr id="0" name=""/>
        <dsp:cNvSpPr/>
      </dsp:nvSpPr>
      <dsp:spPr>
        <a:xfrm rot="5400000">
          <a:off x="6135054" y="2377058"/>
          <a:ext cx="965370" cy="10990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4226E-359D-467A-9D44-93F9405B03B7}">
      <dsp:nvSpPr>
        <dsp:cNvPr id="0" name=""/>
        <dsp:cNvSpPr/>
      </dsp:nvSpPr>
      <dsp:spPr>
        <a:xfrm>
          <a:off x="5879289" y="1306925"/>
          <a:ext cx="1625115" cy="11375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create layout</a:t>
          </a:r>
        </a:p>
      </dsp:txBody>
      <dsp:txXfrm>
        <a:off x="5934829" y="1362465"/>
        <a:ext cx="1514035" cy="1026448"/>
      </dsp:txXfrm>
    </dsp:sp>
    <dsp:sp modelId="{95B14C8A-AF9D-43BB-80E7-1F146B94A3DD}">
      <dsp:nvSpPr>
        <dsp:cNvPr id="0" name=""/>
        <dsp:cNvSpPr/>
      </dsp:nvSpPr>
      <dsp:spPr>
        <a:xfrm>
          <a:off x="7504405" y="1415415"/>
          <a:ext cx="1181954" cy="91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878C7-4C1A-4C66-A6EC-0E79CA03AB34}">
      <dsp:nvSpPr>
        <dsp:cNvPr id="0" name=""/>
        <dsp:cNvSpPr/>
      </dsp:nvSpPr>
      <dsp:spPr>
        <a:xfrm rot="5400000">
          <a:off x="7482448" y="3654878"/>
          <a:ext cx="965370" cy="10990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0AE9F-F695-4FB1-9125-2EDEDB8F49E9}">
      <dsp:nvSpPr>
        <dsp:cNvPr id="0" name=""/>
        <dsp:cNvSpPr/>
      </dsp:nvSpPr>
      <dsp:spPr>
        <a:xfrm>
          <a:off x="7226683" y="2584745"/>
          <a:ext cx="1625115" cy="11375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apply color</a:t>
          </a:r>
        </a:p>
      </dsp:txBody>
      <dsp:txXfrm>
        <a:off x="7282223" y="2640285"/>
        <a:ext cx="1514035" cy="1026448"/>
      </dsp:txXfrm>
    </dsp:sp>
    <dsp:sp modelId="{94036A45-739B-4F0C-AF94-F93CDB2D572F}">
      <dsp:nvSpPr>
        <dsp:cNvPr id="0" name=""/>
        <dsp:cNvSpPr/>
      </dsp:nvSpPr>
      <dsp:spPr>
        <a:xfrm>
          <a:off x="8851799" y="2693234"/>
          <a:ext cx="1181954" cy="91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206A7-8392-4531-8376-B03E07272C09}">
      <dsp:nvSpPr>
        <dsp:cNvPr id="0" name=""/>
        <dsp:cNvSpPr/>
      </dsp:nvSpPr>
      <dsp:spPr>
        <a:xfrm>
          <a:off x="8574077" y="3862565"/>
          <a:ext cx="3978868" cy="11375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render and export results</a:t>
          </a:r>
        </a:p>
      </dsp:txBody>
      <dsp:txXfrm>
        <a:off x="8629617" y="3918105"/>
        <a:ext cx="3867788" cy="1026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09E78-F901-4DD5-B8D4-DCA3C110E740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FA7B-FE87-43A3-92F0-F3A27957A5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igg.ucsd.edu/genomes/ncbi_accession:NC_000915.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TODO: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matrix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Escher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33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nor groups -&gt; identify highly connected nodes and alias/clone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69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extension for </a:t>
            </a:r>
            <a:r>
              <a:rPr lang="en-US" dirty="0" err="1"/>
              <a:t>sbml</a:t>
            </a:r>
            <a:r>
              <a:rPr lang="en-US" dirty="0"/>
              <a:t> level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156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Model: iIT341</a:t>
            </a:r>
          </a:p>
          <a:p>
            <a:r>
              <a:rPr lang="en-US" b="1" dirty="0"/>
              <a:t>Organism: </a:t>
            </a:r>
          </a:p>
          <a:p>
            <a:r>
              <a:rPr lang="en-US" dirty="0"/>
              <a:t>Helicobacter pylori 26695</a:t>
            </a:r>
          </a:p>
          <a:p>
            <a:r>
              <a:rPr lang="en-US" b="1" dirty="0"/>
              <a:t>Genome: </a:t>
            </a:r>
          </a:p>
          <a:p>
            <a:r>
              <a:rPr lang="en-US" dirty="0">
                <a:hlinkClick r:id="rId3"/>
              </a:rPr>
              <a:t>NC_000915.1</a:t>
            </a:r>
            <a:r>
              <a:rPr lang="en-US" dirty="0"/>
              <a:t> </a:t>
            </a:r>
          </a:p>
          <a:p>
            <a:r>
              <a:rPr lang="en-US" b="1" dirty="0"/>
              <a:t>Model metrics: </a:t>
            </a:r>
          </a:p>
          <a:p>
            <a:r>
              <a:rPr lang="en-US" dirty="0"/>
              <a:t>Component Count Metabolites485 Reactions554 Genes339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811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rendered respiratory chain for performance 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341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24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show my output </a:t>
            </a:r>
            <a:r>
              <a:rPr lang="en-US" noProof="0" dirty="0" err="1"/>
              <a:t>svg</a:t>
            </a:r>
            <a:r>
              <a:rPr lang="en-US" noProof="0" dirty="0"/>
              <a:t> corresponding to the JSON I gave to Stijn</a:t>
            </a:r>
          </a:p>
          <a:p>
            <a:endParaRPr lang="en-US" noProof="0" dirty="0"/>
          </a:p>
          <a:p>
            <a:r>
              <a:rPr lang="en-US" noProof="0" dirty="0"/>
              <a:t>add image of </a:t>
            </a:r>
            <a:r>
              <a:rPr lang="en-US" noProof="0" dirty="0" err="1"/>
              <a:t>Stijns</a:t>
            </a:r>
            <a:r>
              <a:rPr lang="en-US" noProof="0" dirty="0"/>
              <a:t> </a:t>
            </a:r>
            <a:r>
              <a:rPr lang="en-US" noProof="0" dirty="0" err="1"/>
              <a:t>svg</a:t>
            </a:r>
            <a:r>
              <a:rPr lang="en-US" noProof="0" dirty="0"/>
              <a:t> output which he generated by reading in a JSON file generated by </a:t>
            </a:r>
            <a:r>
              <a:rPr lang="en-US" noProof="0" dirty="0" err="1"/>
              <a:t>CBMViz</a:t>
            </a:r>
            <a:endParaRPr lang="en-US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720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TODO: replace </a:t>
            </a:r>
            <a:r>
              <a:rPr lang="en-US" noProof="0" dirty="0" err="1"/>
              <a:t>H.pylori</a:t>
            </a:r>
            <a:r>
              <a:rPr lang="en-US" noProof="0" dirty="0"/>
              <a:t> test case with Lac. </a:t>
            </a:r>
            <a:r>
              <a:rPr lang="en-US" noProof="0" dirty="0" err="1"/>
              <a:t>plantarum</a:t>
            </a:r>
            <a:r>
              <a:rPr lang="en-US" noProof="0" dirty="0"/>
              <a:t> model (if it looks good with defined groups)</a:t>
            </a:r>
          </a:p>
          <a:p>
            <a:endParaRPr lang="en-US" noProof="0" dirty="0"/>
          </a:p>
          <a:p>
            <a:r>
              <a:rPr lang="en-US" noProof="0" dirty="0"/>
              <a:t>show different M5_M6 visualizations (groups, auto, compartments)</a:t>
            </a:r>
          </a:p>
          <a:p>
            <a:endParaRPr lang="en-US" noProof="0" dirty="0"/>
          </a:p>
          <a:p>
            <a:r>
              <a:rPr lang="en-US" noProof="0" dirty="0"/>
              <a:t>show which reactions in the output files are also in the template models (implement new coloring mode for that)</a:t>
            </a:r>
          </a:p>
          <a:p>
            <a:endParaRPr lang="en-US" dirty="0"/>
          </a:p>
          <a:p>
            <a:r>
              <a:rPr lang="en-US" dirty="0"/>
              <a:t>- &gt; use black for reactions that exist in both and red for ones that don't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170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visualize elementary flux modes and biomass (radially like transport reactions?)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616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National Institute for Research in Computer Science and Control (</a:t>
            </a:r>
            <a:r>
              <a:rPr lang="en-US" i="1" dirty="0"/>
              <a:t>INRIA</a:t>
            </a:r>
            <a:r>
              <a:rPr lang="en-US" dirty="0"/>
              <a:t>), the University of </a:t>
            </a:r>
            <a:r>
              <a:rPr lang="en-US" i="1" dirty="0"/>
              <a:t>Bordeaux</a:t>
            </a:r>
          </a:p>
          <a:p>
            <a:endParaRPr lang="en-US" dirty="0"/>
          </a:p>
          <a:p>
            <a:r>
              <a:rPr lang="fr-FR" dirty="0"/>
              <a:t>INRIA (Institut National de Recherche en Informatique et en Automatique)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637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L. </a:t>
            </a:r>
            <a:r>
              <a:rPr lang="en-US" dirty="0" err="1"/>
              <a:t>plantarum</a:t>
            </a:r>
            <a:r>
              <a:rPr lang="en-US" dirty="0"/>
              <a:t> = Lactobacillus </a:t>
            </a:r>
            <a:r>
              <a:rPr lang="en-US" dirty="0" err="1"/>
              <a:t>plantarum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283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groups, layout based only on connectivity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65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groups, layout based only on connectivity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0264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Additonal</a:t>
            </a:r>
            <a:r>
              <a:rPr lang="en-US" dirty="0"/>
              <a:t> Rendering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32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9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1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6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46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62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17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47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4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37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2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identifiers.org/doi/10.1186/s12918-015-0151-5" TargetMode="External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27768" b="18678"/>
          <a:stretch/>
        </p:blipFill>
        <p:spPr>
          <a:xfrm>
            <a:off x="924232" y="391618"/>
            <a:ext cx="10579512" cy="477847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-501445" y="-560439"/>
            <a:ext cx="13539019" cy="660727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78512"/>
            <a:ext cx="9144000" cy="2387600"/>
          </a:xfrm>
        </p:spPr>
        <p:txBody>
          <a:bodyPr/>
          <a:lstStyle/>
          <a:p>
            <a:r>
              <a:rPr lang="en-US" sz="7200" b="1" noProof="0" dirty="0" err="1"/>
              <a:t>CBMViz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sz="4400" noProof="0" dirty="0"/>
              <a:t>Metabolic Network Maps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5056290"/>
            <a:ext cx="9144000" cy="1655762"/>
          </a:xfrm>
        </p:spPr>
        <p:txBody>
          <a:bodyPr/>
          <a:lstStyle/>
          <a:p>
            <a:r>
              <a:rPr lang="en-US" noProof="0" dirty="0"/>
              <a:t>Practical, Nicolas Huber</a:t>
            </a:r>
          </a:p>
          <a:p>
            <a:r>
              <a:rPr lang="en-US" noProof="0" dirty="0"/>
              <a:t>Supervisors: </a:t>
            </a:r>
          </a:p>
          <a:p>
            <a:r>
              <a:rPr lang="en-US" noProof="0" dirty="0"/>
              <a:t>Prof. Bas </a:t>
            </a:r>
            <a:r>
              <a:rPr lang="en-US" noProof="0" dirty="0" err="1"/>
              <a:t>Teusink</a:t>
            </a:r>
            <a:r>
              <a:rPr lang="en-US" noProof="0" dirty="0"/>
              <a:t>, Dr. Brett Olivier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51" y="5755103"/>
            <a:ext cx="1931264" cy="10126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674" y="5937023"/>
            <a:ext cx="2791326" cy="83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8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develop another tool?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774"/>
          <a:stretch/>
        </p:blipFill>
        <p:spPr>
          <a:xfrm>
            <a:off x="1324060" y="1344921"/>
            <a:ext cx="9543880" cy="49999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55958" y="670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Vanted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 t="11147" r="23770" b="10382"/>
          <a:stretch/>
        </p:blipFill>
        <p:spPr>
          <a:xfrm>
            <a:off x="3022783" y="738266"/>
            <a:ext cx="8919148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OptFlux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8" t="18798" r="16516" b="12787"/>
          <a:stretch/>
        </p:blipFill>
        <p:spPr>
          <a:xfrm>
            <a:off x="3746090" y="498422"/>
            <a:ext cx="8611964" cy="58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8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MetDraw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2467988" y="5426439"/>
            <a:ext cx="7256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automatic layout algorithms generate messy "hairballs"! </a:t>
            </a:r>
          </a:p>
          <a:p>
            <a:pPr algn="ctr"/>
            <a:r>
              <a:rPr lang="en-US" sz="2400" dirty="0"/>
              <a:t>&lt;-&gt; </a:t>
            </a:r>
          </a:p>
          <a:p>
            <a:pPr algn="ctr"/>
            <a:r>
              <a:rPr lang="en-US" sz="2400" dirty="0"/>
              <a:t>manual </a:t>
            </a:r>
            <a:r>
              <a:rPr lang="en-US" sz="2400" dirty="0" err="1"/>
              <a:t>layouting</a:t>
            </a:r>
            <a:r>
              <a:rPr lang="en-US" sz="2400" dirty="0"/>
              <a:t> takes away valuable time! </a:t>
            </a:r>
          </a:p>
        </p:txBody>
      </p:sp>
    </p:spTree>
    <p:extLst>
      <p:ext uri="{BB962C8B-B14F-4D97-AF65-F5344CB8AC3E}">
        <p14:creationId xmlns:p14="http://schemas.microsoft.com/office/powerpoint/2010/main" val="407793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17" y="0"/>
            <a:ext cx="7968427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55373" y="4032359"/>
            <a:ext cx="619591" cy="494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5210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573" y="37714"/>
            <a:ext cx="7968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5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96" y="162554"/>
            <a:ext cx="10515600" cy="1325563"/>
          </a:xfrm>
        </p:spPr>
        <p:txBody>
          <a:bodyPr/>
          <a:lstStyle/>
          <a:p>
            <a:r>
              <a:rPr lang="en-US" dirty="0"/>
              <a:t>How does it work?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631560"/>
              </p:ext>
            </p:extLst>
          </p:nvPr>
        </p:nvGraphicFramePr>
        <p:xfrm>
          <a:off x="-745959" y="1321577"/>
          <a:ext cx="17084842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6790405" y="2563623"/>
            <a:ext cx="5166824" cy="1229865"/>
            <a:chOff x="6790405" y="2563623"/>
            <a:chExt cx="5166824" cy="1229865"/>
          </a:xfrm>
        </p:grpSpPr>
        <p:sp>
          <p:nvSpPr>
            <p:cNvPr id="9" name="Arrow: Right 8"/>
            <p:cNvSpPr/>
            <p:nvPr/>
          </p:nvSpPr>
          <p:spPr>
            <a:xfrm>
              <a:off x="6790405" y="2949100"/>
              <a:ext cx="1622334" cy="529389"/>
            </a:xfrm>
            <a:prstGeom prst="rightArrow">
              <a:avLst/>
            </a:prstGeom>
            <a:solidFill>
              <a:srgbClr val="C4D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8497723" y="2563623"/>
              <a:ext cx="3459506" cy="1229865"/>
              <a:chOff x="5879289" y="1306925"/>
              <a:chExt cx="1625115" cy="1137528"/>
            </a:xfrm>
          </p:grpSpPr>
          <p:sp>
            <p:nvSpPr>
              <p:cNvPr id="15" name="Rectangle: Rounded Corners 14"/>
              <p:cNvSpPr/>
              <p:nvPr/>
            </p:nvSpPr>
            <p:spPr>
              <a:xfrm>
                <a:off x="5879289" y="1306925"/>
                <a:ext cx="1625115" cy="1137528"/>
              </a:xfrm>
              <a:prstGeom prst="roundRect">
                <a:avLst>
                  <a:gd name="adj" fmla="val 1667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Rectangle: Rounded Corners 4"/>
              <p:cNvSpPr txBox="1"/>
              <p:nvPr/>
            </p:nvSpPr>
            <p:spPr>
              <a:xfrm>
                <a:off x="5934829" y="1362465"/>
                <a:ext cx="1514035" cy="102644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2870" tIns="102870" rIns="102870" bIns="102870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700" dirty="0"/>
                  <a:t>export only layout data to use with other tool</a:t>
                </a:r>
                <a:endParaRPr lang="en-US" sz="2700" kern="1200" dirty="0"/>
              </a:p>
            </p:txBody>
          </p:sp>
        </p:grpSp>
      </p:grpSp>
      <p:sp>
        <p:nvSpPr>
          <p:cNvPr id="17" name="TextBox 16"/>
          <p:cNvSpPr txBox="1"/>
          <p:nvPr/>
        </p:nvSpPr>
        <p:spPr>
          <a:xfrm>
            <a:off x="532015" y="61680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09296" y="4989442"/>
            <a:ext cx="71218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modular code </a:t>
            </a:r>
          </a:p>
          <a:p>
            <a:r>
              <a:rPr lang="en-US" sz="2400" dirty="0">
                <a:sym typeface="Wingdings" panose="05000000000000000000" pitchFamily="2" charset="2"/>
              </a:rPr>
              <a:t> use features individually</a:t>
            </a:r>
          </a:p>
          <a:p>
            <a:r>
              <a:rPr lang="en-US" sz="2400" dirty="0">
                <a:sym typeface="Wingdings" panose="05000000000000000000" pitchFamily="2" charset="2"/>
              </a:rPr>
              <a:t> import own data</a:t>
            </a:r>
          </a:p>
          <a:p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ym typeface="Wingdings" panose="05000000000000000000" pitchFamily="2" charset="2"/>
              </a:rPr>
              <a:t>layout data accessible independently from rendering</a:t>
            </a:r>
            <a:endParaRPr lang="en-US" sz="24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32051" y="2430623"/>
            <a:ext cx="6116614" cy="2357508"/>
            <a:chOff x="232051" y="2480498"/>
            <a:chExt cx="6116614" cy="2357508"/>
          </a:xfrm>
        </p:grpSpPr>
        <p:sp>
          <p:nvSpPr>
            <p:cNvPr id="8" name="Arrow: Right 7"/>
            <p:cNvSpPr/>
            <p:nvPr/>
          </p:nvSpPr>
          <p:spPr>
            <a:xfrm>
              <a:off x="1778925" y="4294377"/>
              <a:ext cx="4569740" cy="543629"/>
            </a:xfrm>
            <a:prstGeom prst="rightArrow">
              <a:avLst/>
            </a:prstGeom>
            <a:solidFill>
              <a:srgbClr val="C4D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32051" y="2480498"/>
              <a:ext cx="3459506" cy="1229865"/>
              <a:chOff x="5879289" y="1306925"/>
              <a:chExt cx="1625115" cy="1137528"/>
            </a:xfrm>
          </p:grpSpPr>
          <p:sp>
            <p:nvSpPr>
              <p:cNvPr id="12" name="Rectangle: Rounded Corners 11"/>
              <p:cNvSpPr/>
              <p:nvPr/>
            </p:nvSpPr>
            <p:spPr>
              <a:xfrm>
                <a:off x="5879289" y="1306925"/>
                <a:ext cx="1625115" cy="1137528"/>
              </a:xfrm>
              <a:prstGeom prst="roundRect">
                <a:avLst>
                  <a:gd name="adj" fmla="val 1667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Rectangle: Rounded Corners 4"/>
              <p:cNvSpPr txBox="1"/>
              <p:nvPr/>
            </p:nvSpPr>
            <p:spPr>
              <a:xfrm>
                <a:off x="5934829" y="1362465"/>
                <a:ext cx="1514035" cy="102644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2870" tIns="102870" rIns="102870" bIns="102870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700" dirty="0"/>
                  <a:t>import layout from database / external source</a:t>
                </a:r>
                <a:endParaRPr lang="en-US" sz="2700" kern="1200" dirty="0"/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1778925" y="3733158"/>
              <a:ext cx="365760" cy="897864"/>
            </a:xfrm>
            <a:prstGeom prst="rect">
              <a:avLst/>
            </a:prstGeom>
            <a:solidFill>
              <a:srgbClr val="C4D5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71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 err="1"/>
              <a:t>CBMViz</a:t>
            </a:r>
            <a:endParaRPr lang="en-US" b="1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3689" y="2022570"/>
            <a:ext cx="11264622" cy="34778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create Tulip graph and generate graph objects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graph_props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createInitialGraph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initialGraph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read SBML file and create layout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graph_registry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layoutModel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graph)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3. apply coloring algorithms to graphs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colorGraphs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fba_results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graph_registry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4. export graph as SVG, GML, JSON,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SBML+layout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4D2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Plugin and/or SBGN file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exportGraph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graph_registry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3689" y="3761507"/>
            <a:ext cx="11264622" cy="2323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8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 err="1"/>
              <a:t>CBMViz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noProof="0" dirty="0"/>
          </a:p>
          <a:p>
            <a:r>
              <a:rPr lang="en-US" noProof="0" dirty="0"/>
              <a:t>only input: SBML level 3 file (groups annotation optional)</a:t>
            </a:r>
          </a:p>
          <a:p>
            <a:endParaRPr lang="en-US" noProof="0" dirty="0"/>
          </a:p>
          <a:p>
            <a:r>
              <a:rPr lang="en-US" noProof="0" dirty="0"/>
              <a:t>if no groups defined: </a:t>
            </a:r>
          </a:p>
          <a:p>
            <a:pPr lvl="1"/>
            <a:r>
              <a:rPr lang="en-US" noProof="0" dirty="0"/>
              <a:t>clone parts of the network based on connectivity</a:t>
            </a:r>
          </a:p>
          <a:p>
            <a:pPr lvl="1"/>
            <a:r>
              <a:rPr lang="en-US" noProof="0" dirty="0"/>
              <a:t>automatically detect cycles</a:t>
            </a:r>
          </a:p>
          <a:p>
            <a:endParaRPr lang="en-US" noProof="0" dirty="0"/>
          </a:p>
          <a:p>
            <a:r>
              <a:rPr lang="en-US" noProof="0" dirty="0"/>
              <a:t>if groups defined:</a:t>
            </a:r>
          </a:p>
          <a:p>
            <a:pPr lvl="1"/>
            <a:r>
              <a:rPr lang="en-US" noProof="0" dirty="0"/>
              <a:t>layout pathways individually </a:t>
            </a:r>
          </a:p>
          <a:p>
            <a:pPr marL="457200" lvl="1" indent="0">
              <a:buNone/>
            </a:pPr>
            <a:r>
              <a:rPr lang="en-US" noProof="0" dirty="0"/>
              <a:t>   (TCA: circular, Glycolysis: linear, etc.)</a:t>
            </a:r>
          </a:p>
        </p:txBody>
      </p:sp>
    </p:spTree>
    <p:extLst>
      <p:ext uri="{BB962C8B-B14F-4D97-AF65-F5344CB8AC3E}">
        <p14:creationId xmlns:p14="http://schemas.microsoft.com/office/powerpoint/2010/main" val="10651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groups?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9662" t="10632" r="19831" b="34774"/>
          <a:stretch/>
        </p:blipFill>
        <p:spPr>
          <a:xfrm>
            <a:off x="2199502" y="1541501"/>
            <a:ext cx="7376984" cy="3744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4945" y="5518345"/>
            <a:ext cx="116821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    groups are sets of reaction ids (of a compartment, a pathway, etc. … )</a:t>
            </a:r>
          </a:p>
          <a:p>
            <a:endParaRPr lang="en-US" sz="2400" dirty="0"/>
          </a:p>
          <a:p>
            <a:r>
              <a:rPr lang="en-US" sz="2400" dirty="0"/>
              <a:t>-    defining groups (with CBMPY) will add a list of groups and their elements to the SBML file</a:t>
            </a:r>
          </a:p>
        </p:txBody>
      </p:sp>
    </p:spTree>
    <p:extLst>
      <p:ext uri="{BB962C8B-B14F-4D97-AF65-F5344CB8AC3E}">
        <p14:creationId xmlns:p14="http://schemas.microsoft.com/office/powerpoint/2010/main" val="289542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/>
          <p:nvPr/>
        </p:nvSpPr>
        <p:spPr>
          <a:xfrm>
            <a:off x="584617" y="2690336"/>
            <a:ext cx="33922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S. cerevisiae, genome-scale model</a:t>
            </a:r>
          </a:p>
          <a:p>
            <a:r>
              <a:rPr lang="en-US" dirty="0"/>
              <a:t>1059 species</a:t>
            </a:r>
          </a:p>
          <a:p>
            <a:r>
              <a:rPr lang="en-US" dirty="0"/>
              <a:t>(iND750)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55" y="15389"/>
            <a:ext cx="8465898" cy="68580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968210" y="3672590"/>
            <a:ext cx="5451921" cy="2127550"/>
            <a:chOff x="2558354" y="3126099"/>
            <a:chExt cx="5451921" cy="2127550"/>
          </a:xfrm>
        </p:grpSpPr>
        <p:sp>
          <p:nvSpPr>
            <p:cNvPr id="7" name="TextBox 6"/>
            <p:cNvSpPr txBox="1"/>
            <p:nvPr/>
          </p:nvSpPr>
          <p:spPr>
            <a:xfrm>
              <a:off x="2558354" y="4884317"/>
              <a:ext cx="2559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Glycoprotein Metabolism</a:t>
              </a:r>
            </a:p>
          </p:txBody>
        </p:sp>
        <p:cxnSp>
          <p:nvCxnSpPr>
            <p:cNvPr id="8" name="Straight Arrow Connector 7"/>
            <p:cNvCxnSpPr>
              <a:cxnSpLocks/>
            </p:cNvCxnSpPr>
            <p:nvPr/>
          </p:nvCxnSpPr>
          <p:spPr>
            <a:xfrm flipV="1">
              <a:off x="5156616" y="3126099"/>
              <a:ext cx="2853659" cy="19255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968210" y="6056026"/>
            <a:ext cx="8030229" cy="617368"/>
            <a:chOff x="2558354" y="4636281"/>
            <a:chExt cx="8030229" cy="617368"/>
          </a:xfrm>
        </p:grpSpPr>
        <p:sp>
          <p:nvSpPr>
            <p:cNvPr id="12" name="TextBox 11"/>
            <p:cNvSpPr txBox="1"/>
            <p:nvPr/>
          </p:nvSpPr>
          <p:spPr>
            <a:xfrm>
              <a:off x="2558354" y="4884317"/>
              <a:ext cx="2656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Oxidative Phosphorylation</a:t>
              </a:r>
            </a:p>
          </p:txBody>
        </p:sp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V="1">
              <a:off x="5386116" y="4636281"/>
              <a:ext cx="5202467" cy="3911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05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8591" y="6321383"/>
            <a:ext cx="3346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Glycoprotein Metabolism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5970" r="11872" b="9946"/>
          <a:stretch/>
        </p:blipFill>
        <p:spPr>
          <a:xfrm>
            <a:off x="173509" y="585047"/>
            <a:ext cx="6405796" cy="56879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2830" r="24403"/>
          <a:stretch/>
        </p:blipFill>
        <p:spPr>
          <a:xfrm>
            <a:off x="7615004" y="-131308"/>
            <a:ext cx="3402767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7513" y="6265027"/>
            <a:ext cx="3477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Oxidative Phosphorylation</a:t>
            </a:r>
          </a:p>
        </p:txBody>
      </p:sp>
    </p:spTree>
    <p:extLst>
      <p:ext uri="{BB962C8B-B14F-4D97-AF65-F5344CB8AC3E}">
        <p14:creationId xmlns:p14="http://schemas.microsoft.com/office/powerpoint/2010/main" val="192552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 err="1"/>
              <a:t>CBMViz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noProof="0" dirty="0"/>
          </a:p>
          <a:p>
            <a:r>
              <a:rPr lang="en-US" noProof="0" dirty="0"/>
              <a:t>multiple coloring options </a:t>
            </a:r>
          </a:p>
          <a:p>
            <a:pPr marL="0" indent="0">
              <a:buNone/>
            </a:pPr>
            <a:r>
              <a:rPr lang="en-US" noProof="0" dirty="0"/>
              <a:t>   (overlay flux data, highlight pathways, etc.)</a:t>
            </a:r>
          </a:p>
          <a:p>
            <a:endParaRPr lang="en-US" noProof="0" dirty="0"/>
          </a:p>
          <a:p>
            <a:r>
              <a:rPr lang="en-US" noProof="0" dirty="0"/>
              <a:t>multiple output options:</a:t>
            </a:r>
          </a:p>
          <a:p>
            <a:pPr lvl="1"/>
            <a:r>
              <a:rPr lang="en-US" noProof="0" dirty="0"/>
              <a:t>SVG</a:t>
            </a:r>
          </a:p>
          <a:p>
            <a:pPr lvl="1"/>
            <a:r>
              <a:rPr lang="en-US" noProof="0" dirty="0"/>
              <a:t>JSON</a:t>
            </a:r>
          </a:p>
          <a:p>
            <a:pPr lvl="1"/>
            <a:r>
              <a:rPr lang="en-US" noProof="0" dirty="0"/>
              <a:t>GML</a:t>
            </a:r>
          </a:p>
          <a:p>
            <a:pPr lvl="1"/>
            <a:r>
              <a:rPr lang="en-US" noProof="0" dirty="0"/>
              <a:t>SBML with Layout Plugin</a:t>
            </a:r>
          </a:p>
          <a:p>
            <a:pPr lvl="1"/>
            <a:r>
              <a:rPr lang="en-US" noProof="0" dirty="0"/>
              <a:t>SBGN</a:t>
            </a:r>
          </a:p>
          <a:p>
            <a:pPr lvl="1"/>
            <a:r>
              <a:rPr lang="en-US" noProof="0" dirty="0"/>
              <a:t>Tulip graph file (.</a:t>
            </a:r>
            <a:r>
              <a:rPr lang="en-US" noProof="0" dirty="0" err="1"/>
              <a:t>tlp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3097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134912"/>
            <a:ext cx="6007536" cy="7232754"/>
            <a:chOff x="0" y="-134912"/>
            <a:chExt cx="6007536" cy="723275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l="12757" r="32531"/>
            <a:stretch/>
          </p:blipFill>
          <p:spPr>
            <a:xfrm>
              <a:off x="0" y="-134912"/>
              <a:ext cx="6007536" cy="723275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45887" y="6445763"/>
              <a:ext cx="23157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Pathway coloring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78210" y="-134912"/>
            <a:ext cx="5769628" cy="7067053"/>
            <a:chOff x="6278210" y="-134912"/>
            <a:chExt cx="5769628" cy="706705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r="31547"/>
            <a:stretch/>
          </p:blipFill>
          <p:spPr>
            <a:xfrm>
              <a:off x="6278210" y="-134912"/>
              <a:ext cx="5769628" cy="660602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62332" y="6470476"/>
              <a:ext cx="176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Flux coloring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55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8333" y="6403560"/>
            <a:ext cx="3066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SVG output in </a:t>
            </a:r>
            <a:r>
              <a:rPr lang="en-US" sz="2400" dirty="0" err="1"/>
              <a:t>Inkscape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8378" b="6626"/>
          <a:stretch/>
        </p:blipFill>
        <p:spPr>
          <a:xfrm>
            <a:off x="510746" y="0"/>
            <a:ext cx="11170508" cy="64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0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r="20845" b="6836"/>
          <a:stretch/>
        </p:blipFill>
        <p:spPr>
          <a:xfrm>
            <a:off x="1270687" y="0"/>
            <a:ext cx="9650627" cy="63891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98333" y="6403560"/>
            <a:ext cx="3795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import GML file in </a:t>
            </a:r>
            <a:r>
              <a:rPr lang="en-US" sz="2400" dirty="0" err="1"/>
              <a:t>Cytoscape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050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noProof="0" dirty="0" err="1"/>
              <a:t>CBMViz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sz="4000" b="1" noProof="0" dirty="0"/>
              <a:t>separation of layout and rendering information!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noProof="0" dirty="0"/>
              <a:t>-&gt; layout once, render many different parts with different 		    configurations! </a:t>
            </a:r>
          </a:p>
          <a:p>
            <a:endParaRPr lang="en-US" noProof="0" dirty="0"/>
          </a:p>
          <a:p>
            <a:r>
              <a:rPr lang="en-US" noProof="0" dirty="0"/>
              <a:t>all generated information stored in SQLite database</a:t>
            </a:r>
          </a:p>
          <a:p>
            <a:pPr marL="0" indent="0">
              <a:buNone/>
            </a:pPr>
            <a:r>
              <a:rPr lang="en-US" noProof="0" dirty="0"/>
              <a:t>	-&gt; compatibility with other graph visualization libraries 	 	     	     (</a:t>
            </a:r>
            <a:r>
              <a:rPr lang="en-US" noProof="0" dirty="0" err="1"/>
              <a:t>NetworkX</a:t>
            </a:r>
            <a:r>
              <a:rPr lang="en-US" noProof="0" dirty="0"/>
              <a:t>, d3, </a:t>
            </a:r>
            <a:r>
              <a:rPr lang="en-US" noProof="0" dirty="0" err="1"/>
              <a:t>Plotly</a:t>
            </a:r>
            <a:r>
              <a:rPr lang="en-US" noProof="0" dirty="0"/>
              <a:t>, etc.)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1503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4775"/>
          <a:stretch/>
        </p:blipFill>
        <p:spPr>
          <a:xfrm>
            <a:off x="1809750" y="420131"/>
            <a:ext cx="8572500" cy="58447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89898" y="6222325"/>
            <a:ext cx="641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render only part of the network in a specified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7300" y="247135"/>
            <a:ext cx="4557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radial layout of all transport reactions in iIT341</a:t>
            </a:r>
          </a:p>
        </p:txBody>
      </p:sp>
    </p:spTree>
    <p:extLst>
      <p:ext uri="{BB962C8B-B14F-4D97-AF65-F5344CB8AC3E}">
        <p14:creationId xmlns:p14="http://schemas.microsoft.com/office/powerpoint/2010/main" val="326468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135"/>
          <a:stretch/>
        </p:blipFill>
        <p:spPr>
          <a:xfrm>
            <a:off x="1809750" y="402293"/>
            <a:ext cx="8572500" cy="58200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89898" y="6222325"/>
            <a:ext cx="641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render only part of the network in a specified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7300" y="247135"/>
            <a:ext cx="4557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radial layout of all transport reactions in iIT341</a:t>
            </a:r>
          </a:p>
        </p:txBody>
      </p:sp>
    </p:spTree>
    <p:extLst>
      <p:ext uri="{BB962C8B-B14F-4D97-AF65-F5344CB8AC3E}">
        <p14:creationId xmlns:p14="http://schemas.microsoft.com/office/powerpoint/2010/main" val="2732545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35924" y="511969"/>
            <a:ext cx="12455610" cy="5081006"/>
            <a:chOff x="135924" y="17689"/>
            <a:chExt cx="12455610" cy="5081006"/>
          </a:xfrm>
        </p:grpSpPr>
        <p:grpSp>
          <p:nvGrpSpPr>
            <p:cNvPr id="10" name="Group 9"/>
            <p:cNvGrpSpPr/>
            <p:nvPr/>
          </p:nvGrpSpPr>
          <p:grpSpPr>
            <a:xfrm>
              <a:off x="135924" y="17689"/>
              <a:ext cx="3917092" cy="5081006"/>
              <a:chOff x="259492" y="17689"/>
              <a:chExt cx="3917092" cy="508100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18197" r="19102"/>
              <a:stretch/>
            </p:blipFill>
            <p:spPr>
              <a:xfrm>
                <a:off x="259492" y="17689"/>
                <a:ext cx="3917092" cy="4896340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1094384" y="4729363"/>
                <a:ext cx="2221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S. cerevisiae (iND750)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834183" y="160427"/>
              <a:ext cx="4757351" cy="4938268"/>
              <a:chOff x="6400799" y="366057"/>
              <a:chExt cx="4757351" cy="4938268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4"/>
              <a:srcRect l="13242" r="18171"/>
              <a:stretch/>
            </p:blipFill>
            <p:spPr>
              <a:xfrm>
                <a:off x="6400799" y="366057"/>
                <a:ext cx="4757351" cy="4568936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7935909" y="4934993"/>
                <a:ext cx="1687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H.pylori</a:t>
                </a:r>
                <a:r>
                  <a:rPr lang="en-US" dirty="0"/>
                  <a:t> (iIT341)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053016" y="219972"/>
              <a:ext cx="3896498" cy="4865279"/>
              <a:chOff x="4053016" y="219972"/>
              <a:chExt cx="3896498" cy="4865279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3016" y="219972"/>
                <a:ext cx="3896498" cy="4449846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4985439" y="4715919"/>
                <a:ext cx="16366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E. coli (iJ01366)</a:t>
                </a: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987168" y="6170107"/>
            <a:ext cx="6217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TCA in three different organisms with flux values</a:t>
            </a:r>
          </a:p>
        </p:txBody>
      </p:sp>
    </p:spTree>
    <p:extLst>
      <p:ext uri="{BB962C8B-B14F-4D97-AF65-F5344CB8AC3E}">
        <p14:creationId xmlns:p14="http://schemas.microsoft.com/office/powerpoint/2010/main" val="1004704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Stijn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8730" t="22733" r="36311" b="26776"/>
          <a:stretch/>
        </p:blipFill>
        <p:spPr>
          <a:xfrm>
            <a:off x="4653197" y="3086958"/>
            <a:ext cx="6700603" cy="34627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7582" t="18142" r="35369" b="21093"/>
          <a:stretch/>
        </p:blipFill>
        <p:spPr>
          <a:xfrm>
            <a:off x="-345989" y="1244050"/>
            <a:ext cx="4919910" cy="3574272"/>
          </a:xfrm>
          <a:prstGeom prst="rect">
            <a:avLst/>
          </a:prstGeom>
        </p:spPr>
      </p:pic>
      <p:sp>
        <p:nvSpPr>
          <p:cNvPr id="10" name="Arrow: Bent-Up 9"/>
          <p:cNvSpPr/>
          <p:nvPr/>
        </p:nvSpPr>
        <p:spPr>
          <a:xfrm rot="5400000">
            <a:off x="2042984" y="4850811"/>
            <a:ext cx="1409273" cy="1988477"/>
          </a:xfrm>
          <a:prstGeom prst="bent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900907" y="1408344"/>
            <a:ext cx="74023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Layout nucleotide reactions from yeast model Y5</a:t>
            </a:r>
          </a:p>
          <a:p>
            <a:endParaRPr lang="en-US" sz="2000" dirty="0"/>
          </a:p>
          <a:p>
            <a:r>
              <a:rPr lang="en-US" sz="2000" dirty="0"/>
              <a:t>-   </a:t>
            </a:r>
            <a:r>
              <a:rPr lang="en-US" sz="2000" dirty="0" err="1"/>
              <a:t>CBMViz</a:t>
            </a:r>
            <a:r>
              <a:rPr lang="en-US" sz="2000" dirty="0"/>
              <a:t>: Y5 SBML file </a:t>
            </a:r>
            <a:r>
              <a:rPr lang="en-US" sz="2000" dirty="0">
                <a:sym typeface="Wingdings" panose="05000000000000000000" pitchFamily="2" charset="2"/>
              </a:rPr>
              <a:t> layout and export only specified pathway 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-   JSON file as input for </a:t>
            </a:r>
            <a:r>
              <a:rPr lang="en-US" sz="2000" dirty="0" err="1">
                <a:sym typeface="Wingdings" panose="05000000000000000000" pitchFamily="2" charset="2"/>
              </a:rPr>
              <a:t>Stijns</a:t>
            </a:r>
            <a:r>
              <a:rPr lang="en-US" sz="2000" dirty="0">
                <a:sym typeface="Wingdings" panose="05000000000000000000" pitchFamily="2" charset="2"/>
              </a:rPr>
              <a:t> script 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261286" y="5287583"/>
            <a:ext cx="951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JSON</a:t>
            </a:r>
          </a:p>
          <a:p>
            <a:r>
              <a:rPr lang="en-US" dirty="0"/>
              <a:t>(Layout)</a:t>
            </a:r>
          </a:p>
        </p:txBody>
      </p:sp>
    </p:spTree>
    <p:extLst>
      <p:ext uri="{BB962C8B-B14F-4D97-AF65-F5344CB8AC3E}">
        <p14:creationId xmlns:p14="http://schemas.microsoft.com/office/powerpoint/2010/main" val="94136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Willi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896425"/>
            <a:ext cx="372057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Compare models: </a:t>
            </a:r>
          </a:p>
          <a:p>
            <a:r>
              <a:rPr lang="en-US" sz="2000" dirty="0"/>
              <a:t>highlight reactions </a:t>
            </a:r>
          </a:p>
          <a:p>
            <a:r>
              <a:rPr lang="en-US" sz="2000" dirty="0"/>
              <a:t>only existing in main model (gaps)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layout main model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get list of reaction ids </a:t>
            </a:r>
          </a:p>
          <a:p>
            <a:r>
              <a:rPr lang="en-US" sz="2000" dirty="0"/>
              <a:t>     from sub model</a:t>
            </a:r>
          </a:p>
          <a:p>
            <a:endParaRPr lang="en-US" sz="2000" dirty="0"/>
          </a:p>
          <a:p>
            <a:pPr marL="342900" indent="-342900">
              <a:buFontTx/>
              <a:buChar char="-"/>
            </a:pPr>
            <a:r>
              <a:rPr lang="en-US" sz="2000" dirty="0"/>
              <a:t>apply coloring algorithm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 visual gap filling!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26204"/>
          <a:stretch/>
        </p:blipFill>
        <p:spPr>
          <a:xfrm>
            <a:off x="5309049" y="0"/>
            <a:ext cx="6195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44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Frank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169139"/>
            <a:ext cx="42943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visualize elementary flux modes (EFMs)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which steps where necessary?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98846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429" y="1097572"/>
            <a:ext cx="4617143" cy="46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9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759324"/>
            <a:ext cx="10976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Zhukova</a:t>
            </a:r>
            <a:r>
              <a:rPr lang="en-US" dirty="0"/>
              <a:t>, A., Sherman, D. J. (2015) </a:t>
            </a:r>
            <a:r>
              <a:rPr lang="en-US" b="1" dirty="0" err="1"/>
              <a:t>Mimoza</a:t>
            </a:r>
            <a:r>
              <a:rPr lang="en-US" b="1" dirty="0"/>
              <a:t>: Web-Based Semantic Zooming and Navigation in Metabolic Networks</a:t>
            </a:r>
            <a:r>
              <a:rPr lang="en-US" dirty="0"/>
              <a:t> </a:t>
            </a:r>
          </a:p>
          <a:p>
            <a:r>
              <a:rPr lang="en-US" i="1" dirty="0"/>
              <a:t>BMC Systems Biology</a:t>
            </a:r>
            <a:r>
              <a:rPr lang="en-US" dirty="0"/>
              <a:t>, </a:t>
            </a:r>
            <a:r>
              <a:rPr lang="en-US" b="1" dirty="0"/>
              <a:t>9:</a:t>
            </a:r>
            <a:r>
              <a:rPr lang="en-US" dirty="0"/>
              <a:t>10 </a:t>
            </a:r>
            <a:r>
              <a:rPr lang="en-US" dirty="0">
                <a:hlinkClick r:id="rId3"/>
              </a:rPr>
              <a:t>doi:10.1186/s12918-015-0151-5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522472"/>
            <a:ext cx="10682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CBMViz</a:t>
            </a:r>
            <a:r>
              <a:rPr lang="en-US" sz="2400" dirty="0"/>
              <a:t> was based on and uses some functions from </a:t>
            </a:r>
            <a:r>
              <a:rPr lang="en-US" sz="2400" b="1" dirty="0" err="1"/>
              <a:t>Mimoza</a:t>
            </a:r>
            <a:r>
              <a:rPr lang="en-US" sz="2400" dirty="0"/>
              <a:t>, </a:t>
            </a:r>
          </a:p>
          <a:p>
            <a:r>
              <a:rPr lang="en-US" sz="2400" dirty="0"/>
              <a:t>a metabolic model visualization and navigation system, developed by Anna </a:t>
            </a:r>
            <a:r>
              <a:rPr lang="en-US" sz="2400" dirty="0" err="1"/>
              <a:t>Zhukova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04813"/>
            <a:ext cx="2438400" cy="3019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828" y="2701381"/>
            <a:ext cx="1949112" cy="799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3716" y="2870116"/>
            <a:ext cx="445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github.com/annazhukova/mimoza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735797" y="4214525"/>
            <a:ext cx="3456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mimoza.bordeaux.inria.fr</a:t>
            </a:r>
            <a:endParaRPr lang="en-US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723" y="4043437"/>
            <a:ext cx="1905000" cy="695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9" b="31996"/>
          <a:stretch/>
        </p:blipFill>
        <p:spPr>
          <a:xfrm>
            <a:off x="3386429" y="3840740"/>
            <a:ext cx="3048000" cy="112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92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9" t="12679" r="18852" b="8851"/>
          <a:stretch/>
        </p:blipFill>
        <p:spPr>
          <a:xfrm>
            <a:off x="5026704" y="145234"/>
            <a:ext cx="7165296" cy="5426880"/>
          </a:xfrm>
          <a:prstGeom prst="rect">
            <a:avLst/>
          </a:prstGeom>
        </p:spPr>
      </p:pic>
      <p:sp>
        <p:nvSpPr>
          <p:cNvPr id="8" name="Textfeld 4"/>
          <p:cNvSpPr txBox="1"/>
          <p:nvPr/>
        </p:nvSpPr>
        <p:spPr>
          <a:xfrm>
            <a:off x="584617" y="198938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Mimoza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15179" y="6160956"/>
            <a:ext cx="5761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generates structured layout for small models</a:t>
            </a:r>
          </a:p>
        </p:txBody>
      </p:sp>
    </p:spTree>
    <p:extLst>
      <p:ext uri="{BB962C8B-B14F-4D97-AF65-F5344CB8AC3E}">
        <p14:creationId xmlns:p14="http://schemas.microsoft.com/office/powerpoint/2010/main" val="2786764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4"/>
          <p:cNvSpPr txBox="1"/>
          <p:nvPr/>
        </p:nvSpPr>
        <p:spPr>
          <a:xfrm>
            <a:off x="584617" y="1989386"/>
            <a:ext cx="27807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Mimoza</a:t>
            </a:r>
            <a:endParaRPr lang="en-US" sz="3600" dirty="0"/>
          </a:p>
          <a:p>
            <a:r>
              <a:rPr lang="en-US" dirty="0"/>
              <a:t>L. </a:t>
            </a:r>
            <a:r>
              <a:rPr lang="en-US" dirty="0" err="1"/>
              <a:t>plantarum</a:t>
            </a:r>
            <a:r>
              <a:rPr lang="en-US" dirty="0"/>
              <a:t>, genome-scale</a:t>
            </a:r>
          </a:p>
          <a:p>
            <a:r>
              <a:rPr lang="en-US" dirty="0"/>
              <a:t>775 species</a:t>
            </a:r>
          </a:p>
          <a:p>
            <a:r>
              <a:rPr lang="en-US" dirty="0"/>
              <a:t>(WCFS1)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6" t="37500" r="42344" b="15555"/>
          <a:stretch/>
        </p:blipFill>
        <p:spPr>
          <a:xfrm>
            <a:off x="6991350" y="208211"/>
            <a:ext cx="4876800" cy="321945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147585" y="979670"/>
            <a:ext cx="6301490" cy="5568950"/>
            <a:chOff x="3143250" y="1009650"/>
            <a:chExt cx="6301490" cy="5568950"/>
          </a:xfrm>
        </p:grpSpPr>
        <p:sp>
          <p:nvSpPr>
            <p:cNvPr id="4" name="Rectangle 3"/>
            <p:cNvSpPr/>
            <p:nvPr/>
          </p:nvSpPr>
          <p:spPr>
            <a:xfrm>
              <a:off x="8572500" y="1009650"/>
              <a:ext cx="857250" cy="6477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3143250" y="1009650"/>
              <a:ext cx="6301490" cy="5568950"/>
              <a:chOff x="3143250" y="1009650"/>
              <a:chExt cx="6301490" cy="556895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3145540" y="1009650"/>
                <a:ext cx="6299200" cy="5568950"/>
                <a:chOff x="3130550" y="1009650"/>
                <a:chExt cx="6299200" cy="5568950"/>
              </a:xfrm>
            </p:grpSpPr>
            <p:cxnSp>
              <p:nvCxnSpPr>
                <p:cNvPr id="6" name="Straight Connector 5"/>
                <p:cNvCxnSpPr>
                  <a:cxnSpLocks/>
                </p:cNvCxnSpPr>
                <p:nvPr/>
              </p:nvCxnSpPr>
              <p:spPr>
                <a:xfrm flipV="1">
                  <a:off x="3130550" y="1009650"/>
                  <a:ext cx="5441950" cy="184150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8934450" y="1009650"/>
                  <a:ext cx="495300" cy="18656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flipV="1">
                  <a:off x="3143250" y="1657350"/>
                  <a:ext cx="5429250" cy="49136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>
                  <a:cxnSpLocks/>
                </p:cNvCxnSpPr>
                <p:nvPr/>
              </p:nvCxnSpPr>
              <p:spPr>
                <a:xfrm flipV="1">
                  <a:off x="8940800" y="1657350"/>
                  <a:ext cx="488950" cy="49212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500" t="36666" r="40000" b="9444"/>
              <a:stretch/>
            </p:blipFill>
            <p:spPr>
              <a:xfrm>
                <a:off x="3143250" y="2875300"/>
                <a:ext cx="5791200" cy="3695700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572289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893" y="0"/>
            <a:ext cx="8750168" cy="6858000"/>
          </a:xfrm>
          <a:prstGeom prst="rect">
            <a:avLst/>
          </a:prstGeom>
        </p:spPr>
      </p:pic>
      <p:sp>
        <p:nvSpPr>
          <p:cNvPr id="3" name="Textfeld 4"/>
          <p:cNvSpPr txBox="1"/>
          <p:nvPr/>
        </p:nvSpPr>
        <p:spPr>
          <a:xfrm>
            <a:off x="584617" y="2690336"/>
            <a:ext cx="19010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46 species</a:t>
            </a:r>
          </a:p>
          <a:p>
            <a:r>
              <a:rPr lang="en-US" dirty="0"/>
              <a:t>(Carlson model)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617" y="4757351"/>
            <a:ext cx="3431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without predefined groups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based on connectivity </a:t>
            </a:r>
          </a:p>
          <a:p>
            <a:r>
              <a:rPr lang="en-US" dirty="0"/>
              <a:t>     (and </a:t>
            </a:r>
            <a:r>
              <a:rPr lang="en-US" dirty="0" err="1"/>
              <a:t>autom</a:t>
            </a:r>
            <a:r>
              <a:rPr lang="en-US" dirty="0"/>
              <a:t>. cycle detection)</a:t>
            </a:r>
          </a:p>
        </p:txBody>
      </p:sp>
    </p:spTree>
    <p:extLst>
      <p:ext uri="{BB962C8B-B14F-4D97-AF65-F5344CB8AC3E}">
        <p14:creationId xmlns:p14="http://schemas.microsoft.com/office/powerpoint/2010/main" val="2646038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4"/>
          <p:cNvSpPr txBox="1"/>
          <p:nvPr/>
        </p:nvSpPr>
        <p:spPr>
          <a:xfrm>
            <a:off x="584617" y="2690336"/>
            <a:ext cx="19010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CBMViz</a:t>
            </a:r>
            <a:endParaRPr lang="en-US" sz="3600" b="1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46 species</a:t>
            </a:r>
          </a:p>
          <a:p>
            <a:r>
              <a:rPr lang="en-US" dirty="0"/>
              <a:t>(Carlson model)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01" y="0"/>
            <a:ext cx="87501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4617" y="4757351"/>
            <a:ext cx="3431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without predefined groups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based on connectivity </a:t>
            </a:r>
          </a:p>
          <a:p>
            <a:r>
              <a:rPr lang="en-US" dirty="0"/>
              <a:t>     (and </a:t>
            </a:r>
            <a:r>
              <a:rPr lang="en-US" dirty="0" err="1"/>
              <a:t>autom</a:t>
            </a:r>
            <a:r>
              <a:rPr lang="en-US" dirty="0"/>
              <a:t>. cycle detection)</a:t>
            </a:r>
          </a:p>
        </p:txBody>
      </p:sp>
    </p:spTree>
    <p:extLst>
      <p:ext uri="{BB962C8B-B14F-4D97-AF65-F5344CB8AC3E}">
        <p14:creationId xmlns:p14="http://schemas.microsoft.com/office/powerpoint/2010/main" val="420822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4681" r="17164"/>
          <a:stretch/>
        </p:blipFill>
        <p:spPr>
          <a:xfrm>
            <a:off x="7299880" y="1064406"/>
            <a:ext cx="4287462" cy="4856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91229" y="5528197"/>
            <a:ext cx="40928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   choose id or name for labels</a:t>
            </a:r>
          </a:p>
          <a:p>
            <a:r>
              <a:rPr lang="en-US" sz="2400" dirty="0"/>
              <a:t>-   show/hide defined cofactors</a:t>
            </a:r>
          </a:p>
          <a:p>
            <a:r>
              <a:rPr lang="en-US" sz="2400" dirty="0"/>
              <a:t>-   …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299880" y="631302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b="11726"/>
          <a:stretch/>
        </p:blipFill>
        <p:spPr>
          <a:xfrm>
            <a:off x="204995" y="877840"/>
            <a:ext cx="6002416" cy="4314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006" y="517034"/>
            <a:ext cx="4834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Alanine Metabolism (</a:t>
            </a:r>
            <a:r>
              <a:rPr lang="en-US" sz="2400" dirty="0" err="1"/>
              <a:t>H.pylori</a:t>
            </a:r>
            <a:r>
              <a:rPr lang="en-US" sz="2400" dirty="0"/>
              <a:t>, iIT341)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91300" y="517034"/>
            <a:ext cx="470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Purine Metabolism (</a:t>
            </a:r>
            <a:r>
              <a:rPr lang="en-US" sz="2400" dirty="0" err="1"/>
              <a:t>H.pylori</a:t>
            </a:r>
            <a:r>
              <a:rPr lang="en-US" sz="2400" dirty="0"/>
              <a:t>, iIT341)</a:t>
            </a:r>
          </a:p>
        </p:txBody>
      </p:sp>
    </p:spTree>
    <p:extLst>
      <p:ext uri="{BB962C8B-B14F-4D97-AF65-F5344CB8AC3E}">
        <p14:creationId xmlns:p14="http://schemas.microsoft.com/office/powerpoint/2010/main" val="313852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618</TotalTime>
  <Words>929</Words>
  <Application>Microsoft Office PowerPoint</Application>
  <PresentationFormat>Widescreen</PresentationFormat>
  <Paragraphs>200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Wingdings</vt:lpstr>
      <vt:lpstr>Office</vt:lpstr>
      <vt:lpstr>CBMViz  Metabolic Network Maps</vt:lpstr>
      <vt:lpstr>Why develop another tool?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it work?</vt:lpstr>
      <vt:lpstr>Using CBMViz</vt:lpstr>
      <vt:lpstr>CBMViz Features (so far)</vt:lpstr>
      <vt:lpstr>What are groups?</vt:lpstr>
      <vt:lpstr>PowerPoint Presentation</vt:lpstr>
      <vt:lpstr>PowerPoint Presentation</vt:lpstr>
      <vt:lpstr>CBMViz Features (so far)</vt:lpstr>
      <vt:lpstr>PowerPoint Presentation</vt:lpstr>
      <vt:lpstr>PowerPoint Presentation</vt:lpstr>
      <vt:lpstr>PowerPoint Presentation</vt:lpstr>
      <vt:lpstr>CBMViz Features (so far)</vt:lpstr>
      <vt:lpstr>PowerPoint Presentation</vt:lpstr>
      <vt:lpstr>PowerPoint Presentation</vt:lpstr>
      <vt:lpstr>PowerPoint Presentation</vt:lpstr>
      <vt:lpstr>Use Case: Stijn</vt:lpstr>
      <vt:lpstr>Use Case: Willi</vt:lpstr>
      <vt:lpstr>Use Case: Frank</vt:lpstr>
      <vt:lpstr>PowerPoint Presentation</vt:lpstr>
      <vt:lpstr>Credits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Nicolas</dc:creator>
  <cp:lastModifiedBy>Nicolas</cp:lastModifiedBy>
  <cp:revision>164</cp:revision>
  <dcterms:created xsi:type="dcterms:W3CDTF">2016-11-14T08:52:22Z</dcterms:created>
  <dcterms:modified xsi:type="dcterms:W3CDTF">2017-02-13T16:49:58Z</dcterms:modified>
</cp:coreProperties>
</file>