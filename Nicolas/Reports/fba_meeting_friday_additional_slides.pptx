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5"/>
  </p:notesMasterIdLst>
  <p:sldIdLst>
    <p:sldId id="256" r:id="rId2"/>
    <p:sldId id="257" r:id="rId3"/>
    <p:sldId id="258" r:id="rId4"/>
    <p:sldId id="263" r:id="rId5"/>
    <p:sldId id="262" r:id="rId6"/>
    <p:sldId id="285" r:id="rId7"/>
    <p:sldId id="286" r:id="rId8"/>
    <p:sldId id="260" r:id="rId9"/>
    <p:sldId id="287" r:id="rId10"/>
    <p:sldId id="265" r:id="rId11"/>
    <p:sldId id="269" r:id="rId12"/>
    <p:sldId id="273" r:id="rId13"/>
    <p:sldId id="268" r:id="rId14"/>
    <p:sldId id="266" r:id="rId15"/>
    <p:sldId id="270" r:id="rId16"/>
    <p:sldId id="274" r:id="rId17"/>
    <p:sldId id="279" r:id="rId18"/>
    <p:sldId id="275" r:id="rId19"/>
    <p:sldId id="280" r:id="rId20"/>
    <p:sldId id="278" r:id="rId21"/>
    <p:sldId id="281" r:id="rId22"/>
    <p:sldId id="282" r:id="rId23"/>
    <p:sldId id="28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504069D-BCEF-44B2-B83C-E4EF29DE468C}">
          <p14:sldIdLst>
            <p14:sldId id="256"/>
          </p14:sldIdLst>
        </p14:section>
        <p14:section name="Motivation" id="{769E4990-780C-499C-BEDA-039A6855C4B0}">
          <p14:sldIdLst>
            <p14:sldId id="257"/>
            <p14:sldId id="258"/>
            <p14:sldId id="263"/>
            <p14:sldId id="262"/>
            <p14:sldId id="285"/>
            <p14:sldId id="286"/>
          </p14:sldIdLst>
        </p14:section>
        <p14:section name="Progress from November" id="{25DEF282-2BDD-405F-8ABC-AC8D7E7A1A50}">
          <p14:sldIdLst>
            <p14:sldId id="260"/>
            <p14:sldId id="287"/>
            <p14:sldId id="265"/>
            <p14:sldId id="269"/>
            <p14:sldId id="273"/>
          </p14:sldIdLst>
        </p14:section>
        <p14:section name="Example Results November" id="{766718DD-AC2C-4151-9B05-C08262768674}">
          <p14:sldIdLst>
            <p14:sldId id="268"/>
            <p14:sldId id="266"/>
            <p14:sldId id="270"/>
          </p14:sldIdLst>
        </p14:section>
        <p14:section name="Current Features + Examples" id="{880768C0-A543-452C-83B7-9802B056804C}">
          <p14:sldIdLst>
            <p14:sldId id="274"/>
            <p14:sldId id="279"/>
            <p14:sldId id="275"/>
            <p14:sldId id="280"/>
            <p14:sldId id="278"/>
            <p14:sldId id="281"/>
          </p14:sldIdLst>
        </p14:section>
        <p14:section name="Use Cases" id="{EE866667-1F19-4308-81BE-B22C464D14D0}">
          <p14:sldIdLst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5" autoAdjust="0"/>
    <p:restoredTop sz="70468" autoAdjust="0"/>
  </p:normalViewPr>
  <p:slideViewPr>
    <p:cSldViewPr snapToGrid="0">
      <p:cViewPr varScale="1">
        <p:scale>
          <a:sx n="64" d="100"/>
          <a:sy n="64" d="100"/>
        </p:scale>
        <p:origin x="139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09E78-F901-4DD5-B8D4-DCA3C110E740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8FA7B-FE87-43A3-92F0-F3A27957A5F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4332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L. </a:t>
            </a:r>
            <a:r>
              <a:rPr lang="en-US" dirty="0" err="1"/>
              <a:t>plantarum</a:t>
            </a:r>
            <a:r>
              <a:rPr lang="en-US" dirty="0"/>
              <a:t> = Lactobacillus </a:t>
            </a:r>
            <a:r>
              <a:rPr lang="en-US" dirty="0" err="1"/>
              <a:t>plantarum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033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green</a:t>
            </a:r>
            <a:r>
              <a:rPr lang="de-DE" dirty="0"/>
              <a:t> positive </a:t>
            </a:r>
            <a:r>
              <a:rPr lang="de-DE" dirty="0" err="1"/>
              <a:t>flux</a:t>
            </a:r>
            <a:endParaRPr lang="de-DE" dirty="0"/>
          </a:p>
          <a:p>
            <a:r>
              <a:rPr lang="de-DE" dirty="0" err="1"/>
              <a:t>red</a:t>
            </a:r>
            <a:r>
              <a:rPr lang="de-DE" dirty="0"/>
              <a:t> negative </a:t>
            </a:r>
            <a:r>
              <a:rPr lang="de-DE" dirty="0" err="1"/>
              <a:t>flux</a:t>
            </a:r>
            <a:endParaRPr lang="de-DE" dirty="0"/>
          </a:p>
          <a:p>
            <a:r>
              <a:rPr lang="de-DE" dirty="0" err="1"/>
              <a:t>grey</a:t>
            </a:r>
            <a:r>
              <a:rPr lang="de-DE" dirty="0"/>
              <a:t> </a:t>
            </a:r>
            <a:r>
              <a:rPr lang="de-DE" dirty="0" err="1"/>
              <a:t>zero</a:t>
            </a:r>
            <a:r>
              <a:rPr lang="de-DE" dirty="0"/>
              <a:t> </a:t>
            </a:r>
            <a:r>
              <a:rPr lang="de-DE" dirty="0" err="1"/>
              <a:t>flux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88FA7B-FE87-43A3-92F0-F3A27957A5FF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8204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690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3174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6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6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466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624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2177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2472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40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6371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5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EEBCB-43CE-4F26-AEFA-10C32BBCF6A7}" type="datetimeFigureOut">
              <a:rPr lang="de-DE" smtClean="0"/>
              <a:t>13.02.2017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660544-00CA-49AD-A700-C2BA498A13A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8026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t="27768" b="18678"/>
          <a:stretch/>
        </p:blipFill>
        <p:spPr>
          <a:xfrm>
            <a:off x="924232" y="391618"/>
            <a:ext cx="10579512" cy="477847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-501445" y="-560439"/>
            <a:ext cx="13539019" cy="660727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587058"/>
            <a:ext cx="9144000" cy="2387600"/>
          </a:xfrm>
        </p:spPr>
        <p:txBody>
          <a:bodyPr/>
          <a:lstStyle/>
          <a:p>
            <a:r>
              <a:rPr lang="en-US" sz="7200" noProof="0" dirty="0" err="1"/>
              <a:t>MetaViz</a:t>
            </a:r>
            <a:r>
              <a:rPr lang="en-US" noProof="0" dirty="0"/>
              <a:t> </a:t>
            </a:r>
            <a:br>
              <a:rPr lang="en-US" noProof="0" dirty="0"/>
            </a:br>
            <a:r>
              <a:rPr lang="en-US" sz="4400" noProof="0" dirty="0"/>
              <a:t>Metabolic Network Maps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5473382"/>
            <a:ext cx="9144000" cy="1655762"/>
          </a:xfrm>
        </p:spPr>
        <p:txBody>
          <a:bodyPr/>
          <a:lstStyle/>
          <a:p>
            <a:r>
              <a:rPr lang="en-US" noProof="0" dirty="0"/>
              <a:t>Practical, Nicolas Huber</a:t>
            </a:r>
          </a:p>
          <a:p>
            <a:r>
              <a:rPr lang="en-US" noProof="0" dirty="0"/>
              <a:t>Supervisors: Prof. Bas </a:t>
            </a:r>
            <a:r>
              <a:rPr lang="en-US" noProof="0" dirty="0" err="1"/>
              <a:t>Teusink</a:t>
            </a:r>
            <a:r>
              <a:rPr lang="en-US" noProof="0" dirty="0"/>
              <a:t>, Dr. Brett Olivier</a:t>
            </a:r>
          </a:p>
        </p:txBody>
      </p:sp>
    </p:spTree>
    <p:extLst>
      <p:ext uri="{BB962C8B-B14F-4D97-AF65-F5344CB8AC3E}">
        <p14:creationId xmlns:p14="http://schemas.microsoft.com/office/powerpoint/2010/main" val="69338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Why develop another tool?</a:t>
            </a:r>
          </a:p>
        </p:txBody>
      </p:sp>
      <p:pic>
        <p:nvPicPr>
          <p:cNvPr id="4" name="Inhaltsplatzhalt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t="15774"/>
          <a:stretch/>
        </p:blipFill>
        <p:spPr>
          <a:xfrm>
            <a:off x="1324060" y="1553467"/>
            <a:ext cx="9543880" cy="499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84617" y="282883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Vanted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4" t="11147" r="23770" b="10382"/>
          <a:stretch/>
        </p:blipFill>
        <p:spPr>
          <a:xfrm>
            <a:off x="3022783" y="738266"/>
            <a:ext cx="8919148" cy="53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944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584617" y="282883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OptFlux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8" t="18798" r="16516" b="12787"/>
          <a:stretch/>
        </p:blipFill>
        <p:spPr>
          <a:xfrm>
            <a:off x="3746090" y="498422"/>
            <a:ext cx="8611964" cy="586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883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1" t="12241" r="27951" b="14098"/>
          <a:stretch/>
        </p:blipFill>
        <p:spPr>
          <a:xfrm>
            <a:off x="3807502" y="62191"/>
            <a:ext cx="8324538" cy="5054720"/>
          </a:xfrm>
          <a:prstGeom prst="rect">
            <a:avLst/>
          </a:prstGeom>
        </p:spPr>
      </p:pic>
      <p:sp>
        <p:nvSpPr>
          <p:cNvPr id="5" name="Textfeld 4"/>
          <p:cNvSpPr txBox="1"/>
          <p:nvPr/>
        </p:nvSpPr>
        <p:spPr>
          <a:xfrm>
            <a:off x="584617" y="269033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MetDraw</a:t>
            </a:r>
            <a:endParaRPr lang="en-US" sz="3600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sp>
        <p:nvSpPr>
          <p:cNvPr id="6" name="Textfeld 5"/>
          <p:cNvSpPr txBox="1"/>
          <p:nvPr/>
        </p:nvSpPr>
        <p:spPr>
          <a:xfrm>
            <a:off x="2467988" y="5426439"/>
            <a:ext cx="72560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automatic layout algorithms generate messy "hairballs"! </a:t>
            </a:r>
          </a:p>
          <a:p>
            <a:pPr algn="ctr"/>
            <a:r>
              <a:rPr lang="en-US" sz="2400" dirty="0"/>
              <a:t>&lt;-&gt; </a:t>
            </a:r>
          </a:p>
          <a:p>
            <a:pPr algn="ctr"/>
            <a:r>
              <a:rPr lang="en-US" sz="2400" dirty="0"/>
              <a:t>manual </a:t>
            </a:r>
            <a:r>
              <a:rPr lang="en-US" sz="2400" dirty="0" err="1"/>
              <a:t>layouting</a:t>
            </a:r>
            <a:r>
              <a:rPr lang="en-US" sz="2400" dirty="0"/>
              <a:t> takes away valuable time! </a:t>
            </a:r>
          </a:p>
        </p:txBody>
      </p:sp>
    </p:spTree>
    <p:extLst>
      <p:ext uri="{BB962C8B-B14F-4D97-AF65-F5344CB8AC3E}">
        <p14:creationId xmlns:p14="http://schemas.microsoft.com/office/powerpoint/2010/main" val="4077933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4"/>
          <p:cNvSpPr txBox="1"/>
          <p:nvPr/>
        </p:nvSpPr>
        <p:spPr>
          <a:xfrm>
            <a:off x="584617" y="198938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MetaViz</a:t>
            </a:r>
            <a:endParaRPr lang="en-US" sz="3600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717" y="0"/>
            <a:ext cx="7968427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55373" y="4032359"/>
            <a:ext cx="619591" cy="4946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35210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4"/>
          <p:cNvSpPr txBox="1"/>
          <p:nvPr/>
        </p:nvSpPr>
        <p:spPr>
          <a:xfrm>
            <a:off x="584617" y="1989386"/>
            <a:ext cx="279179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MetaViz</a:t>
            </a:r>
            <a:endParaRPr lang="en-US" sz="3600" dirty="0"/>
          </a:p>
          <a:p>
            <a:r>
              <a:rPr lang="en-US" dirty="0"/>
              <a:t>E. coli, genome-scale model</a:t>
            </a:r>
          </a:p>
          <a:p>
            <a:r>
              <a:rPr lang="en-US" dirty="0"/>
              <a:t>1367 species</a:t>
            </a:r>
          </a:p>
          <a:p>
            <a:r>
              <a:rPr lang="en-US" dirty="0"/>
              <a:t>(iJO1366)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573" y="37714"/>
            <a:ext cx="79684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254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69" t="12679" r="18852" b="8851"/>
          <a:stretch/>
        </p:blipFill>
        <p:spPr>
          <a:xfrm>
            <a:off x="5026704" y="145234"/>
            <a:ext cx="7165296" cy="5426880"/>
          </a:xfrm>
          <a:prstGeom prst="rect">
            <a:avLst/>
          </a:prstGeom>
        </p:spPr>
      </p:pic>
      <p:sp>
        <p:nvSpPr>
          <p:cNvPr id="8" name="Textfeld 4"/>
          <p:cNvSpPr txBox="1"/>
          <p:nvPr/>
        </p:nvSpPr>
        <p:spPr>
          <a:xfrm>
            <a:off x="584617" y="1989386"/>
            <a:ext cx="19010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Mimoza</a:t>
            </a:r>
            <a:endParaRPr lang="en-US" sz="3600" dirty="0"/>
          </a:p>
          <a:p>
            <a:r>
              <a:rPr lang="en-US" dirty="0"/>
              <a:t>E. coli, core model</a:t>
            </a:r>
          </a:p>
          <a:p>
            <a:r>
              <a:rPr lang="en-US" dirty="0"/>
              <a:t>72 species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617" y="5816179"/>
            <a:ext cx="45107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automatically generated layout </a:t>
            </a:r>
          </a:p>
          <a:p>
            <a:r>
              <a:rPr lang="en-US" sz="2400" dirty="0"/>
              <a:t>that structures the network graph!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550" y="5816174"/>
            <a:ext cx="5971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does the algorithm work?</a:t>
            </a:r>
          </a:p>
          <a:p>
            <a:r>
              <a:rPr lang="en-US" sz="2400" dirty="0"/>
              <a:t>also possible for larger, genome-scale models?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5291528" y="6231672"/>
            <a:ext cx="539646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764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feld 4"/>
          <p:cNvSpPr txBox="1"/>
          <p:nvPr/>
        </p:nvSpPr>
        <p:spPr>
          <a:xfrm>
            <a:off x="584617" y="1989386"/>
            <a:ext cx="27807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Mimoza</a:t>
            </a:r>
            <a:endParaRPr lang="en-US" sz="3600" dirty="0"/>
          </a:p>
          <a:p>
            <a:r>
              <a:rPr lang="en-US" dirty="0"/>
              <a:t>L. </a:t>
            </a:r>
            <a:r>
              <a:rPr lang="en-US" dirty="0" err="1"/>
              <a:t>plantarum</a:t>
            </a:r>
            <a:r>
              <a:rPr lang="en-US" dirty="0"/>
              <a:t>, genome-scale</a:t>
            </a:r>
          </a:p>
          <a:p>
            <a:r>
              <a:rPr lang="en-US" dirty="0"/>
              <a:t>775 species</a:t>
            </a:r>
          </a:p>
          <a:p>
            <a:r>
              <a:rPr lang="en-US" dirty="0"/>
              <a:t>(WCFS1)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56" t="37500" r="42344" b="15555"/>
          <a:stretch/>
        </p:blipFill>
        <p:spPr>
          <a:xfrm>
            <a:off x="6991350" y="208211"/>
            <a:ext cx="4876800" cy="321945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4147585" y="979670"/>
            <a:ext cx="6301490" cy="5568950"/>
            <a:chOff x="3143250" y="1009650"/>
            <a:chExt cx="6301490" cy="5568950"/>
          </a:xfrm>
        </p:grpSpPr>
        <p:sp>
          <p:nvSpPr>
            <p:cNvPr id="4" name="Rectangle 3"/>
            <p:cNvSpPr/>
            <p:nvPr/>
          </p:nvSpPr>
          <p:spPr>
            <a:xfrm>
              <a:off x="8572500" y="1009650"/>
              <a:ext cx="857250" cy="6477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21"/>
            <p:cNvGrpSpPr/>
            <p:nvPr/>
          </p:nvGrpSpPr>
          <p:grpSpPr>
            <a:xfrm>
              <a:off x="3143250" y="1009650"/>
              <a:ext cx="6301490" cy="5568950"/>
              <a:chOff x="3143250" y="1009650"/>
              <a:chExt cx="6301490" cy="5568950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3145540" y="1009650"/>
                <a:ext cx="6299200" cy="5568950"/>
                <a:chOff x="3130550" y="1009650"/>
                <a:chExt cx="6299200" cy="5568950"/>
              </a:xfrm>
            </p:grpSpPr>
            <p:cxnSp>
              <p:nvCxnSpPr>
                <p:cNvPr id="6" name="Straight Connector 5"/>
                <p:cNvCxnSpPr>
                  <a:cxnSpLocks/>
                </p:cNvCxnSpPr>
                <p:nvPr/>
              </p:nvCxnSpPr>
              <p:spPr>
                <a:xfrm flipV="1">
                  <a:off x="3130550" y="1009650"/>
                  <a:ext cx="5441950" cy="184150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 flipV="1">
                  <a:off x="8934450" y="1009650"/>
                  <a:ext cx="495300" cy="18656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/>
                <p:cNvCxnSpPr/>
                <p:nvPr/>
              </p:nvCxnSpPr>
              <p:spPr>
                <a:xfrm flipV="1">
                  <a:off x="3143250" y="1657350"/>
                  <a:ext cx="5429250" cy="49136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>
                  <a:cxnSpLocks/>
                </p:cNvCxnSpPr>
                <p:nvPr/>
              </p:nvCxnSpPr>
              <p:spPr>
                <a:xfrm flipV="1">
                  <a:off x="8940800" y="1657350"/>
                  <a:ext cx="488950" cy="4921250"/>
                </a:xfrm>
                <a:prstGeom prst="line">
                  <a:avLst/>
                </a:prstGeom>
                <a:ln w="28575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" name="Picture 2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500" t="36666" r="40000" b="9444"/>
              <a:stretch/>
            </p:blipFill>
            <p:spPr>
              <a:xfrm>
                <a:off x="3143250" y="2875300"/>
                <a:ext cx="5791200" cy="3695700"/>
              </a:xfrm>
              <a:prstGeom prst="rect">
                <a:avLst/>
              </a:prstGeom>
              <a:ln w="28575">
                <a:solidFill>
                  <a:srgbClr val="FF0000"/>
                </a:solidFill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572289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9567" y="464695"/>
            <a:ext cx="694773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(0.   Learn more about Python,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, SBML Level 3)  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1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.   Find and test existing model visualization tools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2.   Understand the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Mimoza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source code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	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3.   Extract the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layouting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part 	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			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149909" y="3972949"/>
            <a:ext cx="904209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4.  Write code that takes </a:t>
            </a:r>
            <a:r>
              <a:rPr lang="en-US" sz="2400" b="1" dirty="0" err="1"/>
              <a:t>layouting</a:t>
            </a:r>
            <a:r>
              <a:rPr lang="en-US" sz="2400" b="1" dirty="0"/>
              <a:t> basics from </a:t>
            </a:r>
            <a:r>
              <a:rPr lang="en-US" sz="2400" b="1" dirty="0" err="1"/>
              <a:t>Mimoza</a:t>
            </a:r>
            <a:r>
              <a:rPr lang="en-US" sz="2400" b="1" dirty="0"/>
              <a:t> </a:t>
            </a:r>
          </a:p>
          <a:p>
            <a:r>
              <a:rPr lang="en-US" sz="2400" dirty="0"/>
              <a:t>      </a:t>
            </a:r>
          </a:p>
          <a:p>
            <a:r>
              <a:rPr lang="en-US" sz="2400" dirty="0"/>
              <a:t>      and applies </a:t>
            </a:r>
            <a:r>
              <a:rPr lang="en-US" sz="2400" b="1" dirty="0"/>
              <a:t>additional functions </a:t>
            </a:r>
          </a:p>
          <a:p>
            <a:r>
              <a:rPr lang="en-US" sz="2400" dirty="0"/>
              <a:t>      </a:t>
            </a:r>
          </a:p>
          <a:p>
            <a:r>
              <a:rPr lang="en-US" sz="2400" dirty="0"/>
              <a:t>      to </a:t>
            </a:r>
            <a:r>
              <a:rPr lang="en-US" sz="2400" b="1" dirty="0"/>
              <a:t>generate structured layout </a:t>
            </a:r>
            <a:r>
              <a:rPr lang="en-US" sz="2400" dirty="0"/>
              <a:t>even for large, genome-scale models </a:t>
            </a:r>
          </a:p>
        </p:txBody>
      </p:sp>
      <p:sp>
        <p:nvSpPr>
          <p:cNvPr id="6" name="Arrow: Bent-Up 5"/>
          <p:cNvSpPr/>
          <p:nvPr/>
        </p:nvSpPr>
        <p:spPr>
          <a:xfrm rot="5400000">
            <a:off x="1514006" y="3823048"/>
            <a:ext cx="1334125" cy="1633927"/>
          </a:xfrm>
          <a:prstGeom prst="bent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605062" y="6202334"/>
            <a:ext cx="7987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(+ additional functionality such as overlaying FBA results, etc.!)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2915" y="4106745"/>
            <a:ext cx="143661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00B050"/>
                </a:solidFill>
              </a:rPr>
              <a:t>(✓)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210831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 Do List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Improve Layout:</a:t>
            </a:r>
          </a:p>
          <a:p>
            <a:pPr marL="285750" indent="-285750">
              <a:buFontTx/>
              <a:buChar char="-"/>
            </a:pPr>
            <a:endParaRPr lang="en-US" noProof="0" dirty="0"/>
          </a:p>
          <a:p>
            <a:pPr marL="285750" indent="-285750">
              <a:buFontTx/>
              <a:buChar char="-"/>
            </a:pPr>
            <a:r>
              <a:rPr lang="en-US" noProof="0" dirty="0"/>
              <a:t>take </a:t>
            </a:r>
            <a:r>
              <a:rPr lang="en-US" b="1" noProof="0" dirty="0"/>
              <a:t>group information</a:t>
            </a:r>
            <a:r>
              <a:rPr lang="en-US" noProof="0" dirty="0"/>
              <a:t> from SBML (if provided)</a:t>
            </a:r>
          </a:p>
          <a:p>
            <a:pPr marL="0" indent="0">
              <a:buNone/>
            </a:pPr>
            <a:r>
              <a:rPr lang="en-US" noProof="0" dirty="0"/>
              <a:t>    and draw individual pathways (make TCA circular, etc.)</a:t>
            </a:r>
          </a:p>
          <a:p>
            <a:pPr marL="285750" indent="-285750">
              <a:buFontTx/>
              <a:buChar char="-"/>
            </a:pPr>
            <a:endParaRPr lang="en-US" noProof="0" dirty="0"/>
          </a:p>
          <a:p>
            <a:pPr marL="285750" indent="-285750">
              <a:buFontTx/>
              <a:buChar char="-"/>
            </a:pPr>
            <a:r>
              <a:rPr lang="en-US" noProof="0" dirty="0"/>
              <a:t>large networks: automatically </a:t>
            </a:r>
            <a:r>
              <a:rPr lang="en-US" b="1" noProof="0" dirty="0"/>
              <a:t>assign regions</a:t>
            </a:r>
            <a:r>
              <a:rPr lang="en-US" noProof="0" dirty="0"/>
              <a:t> </a:t>
            </a:r>
          </a:p>
          <a:p>
            <a:pPr marL="0" indent="0">
              <a:buNone/>
            </a:pPr>
            <a:r>
              <a:rPr lang="en-US" noProof="0" dirty="0"/>
              <a:t>    for different parts of the graph (transport regions along edges etc. )</a:t>
            </a:r>
          </a:p>
          <a:p>
            <a:pPr marL="285750" indent="-285750">
              <a:buFontTx/>
              <a:buChar char="-"/>
            </a:pPr>
            <a:endParaRPr lang="en-US" noProof="0" dirty="0"/>
          </a:p>
          <a:p>
            <a:pPr marL="285750" indent="-285750">
              <a:buFontTx/>
              <a:buChar char="-"/>
            </a:pPr>
            <a:r>
              <a:rPr lang="en-US" dirty="0"/>
              <a:t>add more </a:t>
            </a:r>
            <a:r>
              <a:rPr lang="en-US" b="1" dirty="0"/>
              <a:t>rendering features</a:t>
            </a:r>
            <a:endParaRPr lang="en-US" b="1" noProof="0" dirty="0"/>
          </a:p>
          <a:p>
            <a:pPr marL="285750" indent="-285750">
              <a:buFontTx/>
              <a:buChar char="-"/>
            </a:pPr>
            <a:endParaRPr lang="en-US" noProof="0" dirty="0"/>
          </a:p>
          <a:p>
            <a:pPr marL="285750" indent="-285750">
              <a:buFontTx/>
              <a:buChar char="-"/>
            </a:pPr>
            <a:endParaRPr lang="en-US" noProof="0" dirty="0"/>
          </a:p>
          <a:p>
            <a:r>
              <a:rPr lang="en-US" dirty="0"/>
              <a:t>Register on Python Package Index, </a:t>
            </a:r>
            <a:r>
              <a:rPr lang="en-US" dirty="0" err="1"/>
              <a:t>i</a:t>
            </a:r>
            <a:r>
              <a:rPr lang="en-US" noProof="0" dirty="0" err="1"/>
              <a:t>ntegrate</a:t>
            </a:r>
            <a:r>
              <a:rPr lang="en-US" noProof="0" dirty="0"/>
              <a:t> </a:t>
            </a:r>
            <a:r>
              <a:rPr lang="en-US" dirty="0"/>
              <a:t>into</a:t>
            </a:r>
            <a:r>
              <a:rPr lang="en-US" noProof="0" dirty="0"/>
              <a:t> </a:t>
            </a:r>
            <a:r>
              <a:rPr lang="en-US" noProof="0" dirty="0" err="1"/>
              <a:t>MetaToolkit</a:t>
            </a:r>
            <a:endParaRPr lang="en-US" noProof="0" dirty="0"/>
          </a:p>
          <a:p>
            <a:endParaRPr lang="en-US" noProof="0" dirty="0"/>
          </a:p>
        </p:txBody>
      </p:sp>
      <p:sp>
        <p:nvSpPr>
          <p:cNvPr id="2" name="Rectangle 1"/>
          <p:cNvSpPr/>
          <p:nvPr/>
        </p:nvSpPr>
        <p:spPr>
          <a:xfrm>
            <a:off x="7644401" y="2290715"/>
            <a:ext cx="9364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</a:rPr>
              <a:t>✓ </a:t>
            </a:r>
            <a:endParaRPr lang="en-US" sz="6000" dirty="0"/>
          </a:p>
        </p:txBody>
      </p:sp>
      <p:sp>
        <p:nvSpPr>
          <p:cNvPr id="6" name="Rectangle 5"/>
          <p:cNvSpPr/>
          <p:nvPr/>
        </p:nvSpPr>
        <p:spPr>
          <a:xfrm>
            <a:off x="9346521" y="3493462"/>
            <a:ext cx="93647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</a:rPr>
              <a:t>✓ </a:t>
            </a:r>
            <a:endParaRPr lang="en-US" sz="6000" dirty="0"/>
          </a:p>
        </p:txBody>
      </p:sp>
      <p:sp>
        <p:nvSpPr>
          <p:cNvPr id="7" name="Rectangle 6"/>
          <p:cNvSpPr/>
          <p:nvPr/>
        </p:nvSpPr>
        <p:spPr>
          <a:xfrm>
            <a:off x="4889176" y="4286639"/>
            <a:ext cx="81464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>
                <a:solidFill>
                  <a:srgbClr val="00B050"/>
                </a:solidFill>
              </a:rPr>
              <a:t>✓</a:t>
            </a:r>
            <a:r>
              <a:rPr lang="en-US" dirty="0">
                <a:solidFill>
                  <a:srgbClr val="00B05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2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9567" y="464695"/>
            <a:ext cx="694773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(0.   Learn more about Python,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Git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, SBML Level 3)  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1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.   Find and test existing model visualization tools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2.   Understand the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Mimoza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source code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	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  <a:endParaRPr lang="de-DE" sz="2400" dirty="0">
              <a:solidFill>
                <a:srgbClr val="00B050"/>
              </a:solidFill>
            </a:endParaRPr>
          </a:p>
          <a:p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3.   Extract the </a:t>
            </a:r>
            <a:r>
              <a:rPr lang="en-US" sz="2400" dirty="0" err="1">
                <a:solidFill>
                  <a:schemeClr val="bg1">
                    <a:lumMod val="65000"/>
                  </a:schemeClr>
                </a:solidFill>
              </a:rPr>
              <a:t>layouting</a:t>
            </a:r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part 	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</a:rPr>
              <a:t>					</a:t>
            </a:r>
            <a:r>
              <a:rPr lang="en-US" sz="2400" dirty="0">
                <a:solidFill>
                  <a:srgbClr val="00B050"/>
                </a:solidFill>
              </a:rPr>
              <a:t>✓</a:t>
            </a:r>
          </a:p>
          <a:p>
            <a:endParaRPr lang="en-US" sz="2400" dirty="0">
              <a:solidFill>
                <a:srgbClr val="00B050"/>
              </a:solidFill>
            </a:endParaRP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4.    Generate structured layout even 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       for large, genome-scale models  </a:t>
            </a:r>
            <a:r>
              <a:rPr lang="en-US" sz="2400" dirty="0"/>
              <a:t>					</a:t>
            </a:r>
            <a:r>
              <a:rPr lang="en-US" sz="2400" dirty="0">
                <a:solidFill>
                  <a:srgbClr val="00B050"/>
                </a:solidFill>
              </a:rPr>
              <a:t> ✓</a:t>
            </a:r>
            <a:endParaRPr lang="en-US" sz="2400" dirty="0"/>
          </a:p>
          <a:p>
            <a:endParaRPr lang="de-DE" sz="2400" dirty="0">
              <a:solidFill>
                <a:srgbClr val="00B050"/>
              </a:solidFill>
            </a:endParaRPr>
          </a:p>
          <a:p>
            <a:endParaRPr lang="en-US" sz="2400" dirty="0"/>
          </a:p>
        </p:txBody>
      </p:sp>
      <p:sp>
        <p:nvSpPr>
          <p:cNvPr id="8" name="Arrow: Bent-Up 7"/>
          <p:cNvSpPr/>
          <p:nvPr/>
        </p:nvSpPr>
        <p:spPr>
          <a:xfrm rot="5400000">
            <a:off x="1514006" y="4452635"/>
            <a:ext cx="1334125" cy="1633927"/>
          </a:xfrm>
          <a:prstGeom prst="bent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149909" y="5367022"/>
            <a:ext cx="87931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5.  Add more features, convert script to a module and register on PIP </a:t>
            </a:r>
          </a:p>
        </p:txBody>
      </p:sp>
    </p:spTree>
    <p:extLst>
      <p:ext uri="{BB962C8B-B14F-4D97-AF65-F5344CB8AC3E}">
        <p14:creationId xmlns:p14="http://schemas.microsoft.com/office/powerpoint/2010/main" val="100407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41" r="10885"/>
          <a:stretch/>
        </p:blipFill>
        <p:spPr>
          <a:xfrm>
            <a:off x="3297834" y="0"/>
            <a:ext cx="888916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9823" y="3013501"/>
            <a:ext cx="2466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E. coli, </a:t>
            </a:r>
            <a:r>
              <a:rPr lang="de-DE" sz="2400" dirty="0" err="1"/>
              <a:t>core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endParaRPr lang="de-DE" sz="2400" dirty="0"/>
          </a:p>
          <a:p>
            <a:r>
              <a:rPr lang="de-DE" sz="2400" dirty="0"/>
              <a:t>Carlson, 2003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80693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4" t="9922" r="5064" b="11494"/>
          <a:stretch/>
        </p:blipFill>
        <p:spPr>
          <a:xfrm>
            <a:off x="1099270" y="-119653"/>
            <a:ext cx="10922840" cy="713478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4812" y="3838594"/>
            <a:ext cx="343004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FBA results (with CBMPY):</a:t>
            </a:r>
          </a:p>
          <a:p>
            <a:r>
              <a:rPr lang="en-US" sz="2400" dirty="0"/>
              <a:t>green </a:t>
            </a:r>
            <a:r>
              <a:rPr lang="de-DE" sz="2400" dirty="0"/>
              <a:t>= </a:t>
            </a:r>
            <a:r>
              <a:rPr lang="en-US" sz="2400" dirty="0"/>
              <a:t> positive flux</a:t>
            </a:r>
          </a:p>
          <a:p>
            <a:r>
              <a:rPr lang="en-US" sz="2400" dirty="0"/>
              <a:t>red</a:t>
            </a:r>
            <a:r>
              <a:rPr lang="de-DE" sz="2400" dirty="0"/>
              <a:t> =</a:t>
            </a:r>
            <a:r>
              <a:rPr lang="en-US" sz="2400" dirty="0"/>
              <a:t> negative flux</a:t>
            </a:r>
          </a:p>
          <a:p>
            <a:r>
              <a:rPr lang="en-US" sz="2400" dirty="0"/>
              <a:t>grey = zero flux</a:t>
            </a:r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9938479" y="5171607"/>
            <a:ext cx="1064301" cy="15439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9823" y="3013501"/>
            <a:ext cx="24661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E. coli, </a:t>
            </a:r>
            <a:r>
              <a:rPr lang="de-DE" sz="2400" dirty="0" err="1"/>
              <a:t>core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endParaRPr lang="de-DE" sz="2400" dirty="0"/>
          </a:p>
          <a:p>
            <a:r>
              <a:rPr lang="de-DE" sz="2400" dirty="0"/>
              <a:t>Carlson, 2003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1362544" y="5621311"/>
            <a:ext cx="1169233" cy="15889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223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9" r="14316"/>
          <a:stretch/>
        </p:blipFill>
        <p:spPr>
          <a:xfrm>
            <a:off x="3013023" y="0"/>
            <a:ext cx="8589364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9823" y="3013501"/>
            <a:ext cx="27796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H. </a:t>
            </a:r>
            <a:r>
              <a:rPr lang="de-DE" sz="2400" dirty="0" err="1"/>
              <a:t>pylori</a:t>
            </a:r>
            <a:r>
              <a:rPr lang="de-DE" sz="2400" dirty="0"/>
              <a:t>, </a:t>
            </a:r>
          </a:p>
          <a:p>
            <a:r>
              <a:rPr lang="de-DE" sz="2400" dirty="0" err="1"/>
              <a:t>genome-scale</a:t>
            </a:r>
            <a:r>
              <a:rPr lang="de-DE" sz="2400" dirty="0"/>
              <a:t> </a:t>
            </a:r>
            <a:r>
              <a:rPr lang="de-DE" sz="2400" dirty="0" err="1"/>
              <a:t>model</a:t>
            </a:r>
            <a:endParaRPr lang="de-DE" sz="2400" dirty="0"/>
          </a:p>
          <a:p>
            <a:r>
              <a:rPr lang="de-DE" sz="2400" dirty="0"/>
              <a:t>ilT341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277146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MetaViz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noProof="0" dirty="0"/>
          </a:p>
          <a:p>
            <a:r>
              <a:rPr lang="en-US" noProof="0" dirty="0"/>
              <a:t>only input: SBML level 3 file (groups annotation optional)</a:t>
            </a:r>
          </a:p>
          <a:p>
            <a:endParaRPr lang="en-US" noProof="0" dirty="0"/>
          </a:p>
          <a:p>
            <a:r>
              <a:rPr lang="en-US" noProof="0" dirty="0"/>
              <a:t>if no groups defined: </a:t>
            </a:r>
          </a:p>
          <a:p>
            <a:pPr lvl="1"/>
            <a:r>
              <a:rPr lang="en-US" noProof="0" dirty="0"/>
              <a:t>clone parts of the network based on connectivity</a:t>
            </a:r>
          </a:p>
          <a:p>
            <a:pPr lvl="1"/>
            <a:r>
              <a:rPr lang="en-US" noProof="0" dirty="0"/>
              <a:t>automatically detect cycles</a:t>
            </a:r>
          </a:p>
          <a:p>
            <a:endParaRPr lang="en-US" noProof="0" dirty="0"/>
          </a:p>
          <a:p>
            <a:r>
              <a:rPr lang="en-US" noProof="0" dirty="0"/>
              <a:t>if groups defined:</a:t>
            </a:r>
          </a:p>
          <a:p>
            <a:pPr lvl="1"/>
            <a:r>
              <a:rPr lang="en-US" noProof="0" dirty="0"/>
              <a:t>layout pathways individually </a:t>
            </a:r>
          </a:p>
          <a:p>
            <a:pPr marL="457200" lvl="1" indent="0">
              <a:buNone/>
            </a:pPr>
            <a:r>
              <a:rPr lang="en-US" noProof="0" dirty="0"/>
              <a:t>   (TCA: circular, Glycolysis: linear, etc.)</a:t>
            </a:r>
          </a:p>
        </p:txBody>
      </p:sp>
    </p:spTree>
    <p:extLst>
      <p:ext uri="{BB962C8B-B14F-4D97-AF65-F5344CB8AC3E}">
        <p14:creationId xmlns:p14="http://schemas.microsoft.com/office/powerpoint/2010/main" val="10651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for different models: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add example for </a:t>
            </a:r>
            <a:r>
              <a:rPr lang="en-US" noProof="0" dirty="0" err="1"/>
              <a:t>autoAlias</a:t>
            </a:r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add example for </a:t>
            </a:r>
            <a:r>
              <a:rPr lang="en-US" noProof="0" dirty="0" err="1"/>
              <a:t>pathwayLayout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62738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MetaViz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noProof="0" dirty="0"/>
          </a:p>
          <a:p>
            <a:r>
              <a:rPr lang="en-US" noProof="0" dirty="0"/>
              <a:t>multiple coloring options (overlay flux data, highlight pathways, etc.)</a:t>
            </a:r>
          </a:p>
          <a:p>
            <a:endParaRPr lang="en-US" noProof="0" dirty="0"/>
          </a:p>
          <a:p>
            <a:r>
              <a:rPr lang="en-US" noProof="0" dirty="0"/>
              <a:t>multiple output options:</a:t>
            </a:r>
          </a:p>
          <a:p>
            <a:pPr lvl="1"/>
            <a:r>
              <a:rPr lang="en-US" noProof="0" dirty="0"/>
              <a:t>SVG</a:t>
            </a:r>
          </a:p>
          <a:p>
            <a:pPr lvl="1"/>
            <a:r>
              <a:rPr lang="en-US" noProof="0" dirty="0"/>
              <a:t>JSON</a:t>
            </a:r>
          </a:p>
          <a:p>
            <a:pPr lvl="1"/>
            <a:r>
              <a:rPr lang="en-US" noProof="0" dirty="0"/>
              <a:t>GML</a:t>
            </a:r>
          </a:p>
          <a:p>
            <a:pPr lvl="1"/>
            <a:r>
              <a:rPr lang="en-US" noProof="0" dirty="0"/>
              <a:t>SBML with Layout Plugin</a:t>
            </a:r>
          </a:p>
          <a:p>
            <a:pPr lvl="1"/>
            <a:r>
              <a:rPr lang="en-US" noProof="0" dirty="0"/>
              <a:t>SBGN</a:t>
            </a:r>
          </a:p>
          <a:p>
            <a:pPr lvl="1"/>
            <a:r>
              <a:rPr lang="en-US" noProof="0" dirty="0"/>
              <a:t>Tulip graph file (.</a:t>
            </a:r>
            <a:r>
              <a:rPr lang="en-US" noProof="0" dirty="0" err="1"/>
              <a:t>tlp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23097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add example for flux overlay</a:t>
            </a:r>
          </a:p>
          <a:p>
            <a:endParaRPr lang="en-US" noProof="0" dirty="0"/>
          </a:p>
          <a:p>
            <a:r>
              <a:rPr lang="en-US" noProof="0" dirty="0"/>
              <a:t>add example for pathway highlighting</a:t>
            </a:r>
          </a:p>
          <a:p>
            <a:endParaRPr lang="en-US" noProof="0" dirty="0"/>
          </a:p>
          <a:p>
            <a:r>
              <a:rPr lang="en-US" noProof="0" dirty="0"/>
              <a:t> show SVG, GML, SBGN and Tulip</a:t>
            </a:r>
          </a:p>
        </p:txBody>
      </p:sp>
    </p:spTree>
    <p:extLst>
      <p:ext uri="{BB962C8B-B14F-4D97-AF65-F5344CB8AC3E}">
        <p14:creationId xmlns:p14="http://schemas.microsoft.com/office/powerpoint/2010/main" val="103303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MetaViz</a:t>
            </a:r>
            <a:r>
              <a:rPr lang="en-US" noProof="0" dirty="0"/>
              <a:t> Features (so far)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r>
              <a:rPr lang="en-US" noProof="0" dirty="0"/>
              <a:t>separation of layout and rendering information</a:t>
            </a:r>
          </a:p>
          <a:p>
            <a:pPr marL="0" indent="0">
              <a:buNone/>
            </a:pPr>
            <a:r>
              <a:rPr lang="en-US" noProof="0" dirty="0"/>
              <a:t>	-&gt; layout once, render many different parts with different 		    configurations! </a:t>
            </a:r>
          </a:p>
          <a:p>
            <a:endParaRPr lang="en-US" noProof="0" dirty="0"/>
          </a:p>
          <a:p>
            <a:r>
              <a:rPr lang="en-US" noProof="0" dirty="0"/>
              <a:t>all generated information stored in SQLite database</a:t>
            </a:r>
          </a:p>
          <a:p>
            <a:pPr marL="0" indent="0">
              <a:buNone/>
            </a:pPr>
            <a:r>
              <a:rPr lang="en-US" noProof="0" dirty="0"/>
              <a:t>	-&gt; compatibility with other graph visualization libraries 	 	     	     (</a:t>
            </a:r>
            <a:r>
              <a:rPr lang="en-US" noProof="0" dirty="0" err="1"/>
              <a:t>NetworkX</a:t>
            </a:r>
            <a:r>
              <a:rPr lang="en-US" noProof="0" dirty="0"/>
              <a:t>, d3, </a:t>
            </a:r>
            <a:r>
              <a:rPr lang="en-US" noProof="0" dirty="0" err="1"/>
              <a:t>Plotly</a:t>
            </a:r>
            <a:r>
              <a:rPr lang="en-US" noProof="0" dirty="0"/>
              <a:t>, etc.)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31503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  <a:p>
            <a:r>
              <a:rPr lang="en-US" noProof="0" dirty="0"/>
              <a:t>show example for </a:t>
            </a:r>
            <a:r>
              <a:rPr lang="en-US" noProof="0" dirty="0" err="1"/>
              <a:t>NetworkX</a:t>
            </a:r>
            <a:r>
              <a:rPr lang="en-US" noProof="0" dirty="0"/>
              <a:t> graph from DB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show example for d3 graph from DB (ask Willi!)</a:t>
            </a:r>
          </a:p>
        </p:txBody>
      </p:sp>
    </p:spTree>
    <p:extLst>
      <p:ext uri="{BB962C8B-B14F-4D97-AF65-F5344CB8AC3E}">
        <p14:creationId xmlns:p14="http://schemas.microsoft.com/office/powerpoint/2010/main" val="561591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Willi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show different M5_M6 visualizations (groups, auto, compartments)</a:t>
            </a:r>
          </a:p>
          <a:p>
            <a:endParaRPr lang="en-US" noProof="0" dirty="0"/>
          </a:p>
          <a:p>
            <a:r>
              <a:rPr lang="en-US" noProof="0" dirty="0"/>
              <a:t>show which reactions in the output files are also in the template models (implement new coloring mode for that)</a:t>
            </a:r>
          </a:p>
        </p:txBody>
      </p:sp>
    </p:spTree>
    <p:extLst>
      <p:ext uri="{BB962C8B-B14F-4D97-AF65-F5344CB8AC3E}">
        <p14:creationId xmlns:p14="http://schemas.microsoft.com/office/powerpoint/2010/main" val="12851444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 Case: Stijn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show my output </a:t>
            </a:r>
            <a:r>
              <a:rPr lang="en-US" noProof="0" dirty="0" err="1"/>
              <a:t>svg</a:t>
            </a:r>
            <a:r>
              <a:rPr lang="en-US" noProof="0" dirty="0"/>
              <a:t> corresponding to the </a:t>
            </a:r>
            <a:r>
              <a:rPr lang="en-US" noProof="0" dirty="0" err="1"/>
              <a:t>JSOn</a:t>
            </a:r>
            <a:r>
              <a:rPr lang="en-US" noProof="0" dirty="0"/>
              <a:t> I gave to Stijn</a:t>
            </a:r>
          </a:p>
          <a:p>
            <a:endParaRPr lang="en-US" noProof="0" dirty="0"/>
          </a:p>
          <a:p>
            <a:r>
              <a:rPr lang="en-US" noProof="0" dirty="0"/>
              <a:t>add image of </a:t>
            </a:r>
            <a:r>
              <a:rPr lang="en-US" noProof="0" dirty="0" err="1"/>
              <a:t>Stijns</a:t>
            </a:r>
            <a:r>
              <a:rPr lang="en-US" noProof="0" dirty="0"/>
              <a:t> </a:t>
            </a:r>
            <a:r>
              <a:rPr lang="en-US" noProof="0" dirty="0" err="1"/>
              <a:t>svg</a:t>
            </a:r>
            <a:r>
              <a:rPr lang="en-US" noProof="0" dirty="0"/>
              <a:t> output which he generated by reading in a JSON file generated by </a:t>
            </a:r>
            <a:r>
              <a:rPr lang="en-US" noProof="0" dirty="0" err="1"/>
              <a:t>MetaViz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1369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358</TotalTime>
  <Words>572</Words>
  <Application>Microsoft Office PowerPoint</Application>
  <PresentationFormat>Widescreen</PresentationFormat>
  <Paragraphs>152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</vt:lpstr>
      <vt:lpstr>MetaViz  Metabolic Network Maps</vt:lpstr>
      <vt:lpstr>Why develop another tool?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 Do List</vt:lpstr>
      <vt:lpstr>PowerPoint Presentation</vt:lpstr>
      <vt:lpstr>PowerPoint Presentation</vt:lpstr>
      <vt:lpstr>PowerPoint Presentation</vt:lpstr>
      <vt:lpstr>PowerPoint Presentation</vt:lpstr>
      <vt:lpstr>MetaViz Features (so far)</vt:lpstr>
      <vt:lpstr>Examples:</vt:lpstr>
      <vt:lpstr>MetaViz Features (so far)</vt:lpstr>
      <vt:lpstr>Examples:</vt:lpstr>
      <vt:lpstr>MetaViz Features (so far)</vt:lpstr>
      <vt:lpstr>Examples</vt:lpstr>
      <vt:lpstr>Use Case: Willi</vt:lpstr>
      <vt:lpstr>Use Case: Stijn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Nicolas</dc:creator>
  <cp:lastModifiedBy>Nicolas</cp:lastModifiedBy>
  <cp:revision>77</cp:revision>
  <dcterms:created xsi:type="dcterms:W3CDTF">2016-11-14T08:52:22Z</dcterms:created>
  <dcterms:modified xsi:type="dcterms:W3CDTF">2017-02-13T16:50:51Z</dcterms:modified>
</cp:coreProperties>
</file>