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9"/>
  </p:notesMasterIdLst>
  <p:sldIdLst>
    <p:sldId id="256" r:id="rId2"/>
    <p:sldId id="257" r:id="rId3"/>
    <p:sldId id="258" r:id="rId4"/>
    <p:sldId id="263" r:id="rId5"/>
    <p:sldId id="262" r:id="rId6"/>
    <p:sldId id="285" r:id="rId7"/>
    <p:sldId id="286" r:id="rId8"/>
    <p:sldId id="274" r:id="rId9"/>
    <p:sldId id="301" r:id="rId10"/>
    <p:sldId id="287" r:id="rId11"/>
    <p:sldId id="290" r:id="rId12"/>
    <p:sldId id="288" r:id="rId13"/>
    <p:sldId id="289" r:id="rId14"/>
    <p:sldId id="291" r:id="rId15"/>
    <p:sldId id="292" r:id="rId16"/>
    <p:sldId id="275" r:id="rId17"/>
    <p:sldId id="293" r:id="rId18"/>
    <p:sldId id="296" r:id="rId19"/>
    <p:sldId id="295" r:id="rId20"/>
    <p:sldId id="278" r:id="rId21"/>
    <p:sldId id="297" r:id="rId22"/>
    <p:sldId id="299" r:id="rId23"/>
    <p:sldId id="298" r:id="rId24"/>
    <p:sldId id="294" r:id="rId25"/>
    <p:sldId id="283" r:id="rId26"/>
    <p:sldId id="282" r:id="rId27"/>
    <p:sldId id="300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1504069D-BCEF-44B2-B83C-E4EF29DE468C}">
          <p14:sldIdLst>
            <p14:sldId id="256"/>
          </p14:sldIdLst>
        </p14:section>
        <p14:section name="Motivation" id="{769E4990-780C-499C-BEDA-039A6855C4B0}">
          <p14:sldIdLst>
            <p14:sldId id="257"/>
            <p14:sldId id="258"/>
            <p14:sldId id="263"/>
            <p14:sldId id="262"/>
            <p14:sldId id="285"/>
            <p14:sldId id="286"/>
          </p14:sldIdLst>
        </p14:section>
        <p14:section name="Current Features + Examples" id="{880768C0-A543-452C-83B7-9802B056804C}">
          <p14:sldIdLst>
            <p14:sldId id="274"/>
            <p14:sldId id="301"/>
            <p14:sldId id="287"/>
            <p14:sldId id="290"/>
            <p14:sldId id="288"/>
            <p14:sldId id="289"/>
            <p14:sldId id="291"/>
            <p14:sldId id="292"/>
            <p14:sldId id="275"/>
            <p14:sldId id="293"/>
            <p14:sldId id="296"/>
            <p14:sldId id="295"/>
            <p14:sldId id="278"/>
            <p14:sldId id="297"/>
            <p14:sldId id="299"/>
            <p14:sldId id="298"/>
            <p14:sldId id="294"/>
          </p14:sldIdLst>
        </p14:section>
        <p14:section name="Use Cases" id="{EE866667-1F19-4308-81BE-B22C464D14D0}">
          <p14:sldIdLst>
            <p14:sldId id="283"/>
            <p14:sldId id="282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05" autoAdjust="0"/>
    <p:restoredTop sz="85819" autoAdjust="0"/>
  </p:normalViewPr>
  <p:slideViewPr>
    <p:cSldViewPr snapToGrid="0">
      <p:cViewPr varScale="1">
        <p:scale>
          <a:sx n="78" d="100"/>
          <a:sy n="78" d="100"/>
        </p:scale>
        <p:origin x="876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E09E78-F901-4DD5-B8D4-DCA3C110E740}" type="datetimeFigureOut">
              <a:rPr lang="de-DE" smtClean="0"/>
              <a:t>09.02.2017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88FA7B-FE87-43A3-92F0-F3A27957A5F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7646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bigg.ucsd.edu/genomes/ncbi_accession:NC_000915.1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88FA7B-FE87-43A3-92F0-F3A27957A5F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4332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nor groups -&gt; identify highly connected nodes and alias/clone them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88FA7B-FE87-43A3-92F0-F3A27957A5FF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69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extension for </a:t>
            </a:r>
            <a:r>
              <a:rPr lang="en-US" dirty="0" err="1"/>
              <a:t>sbml</a:t>
            </a:r>
            <a:r>
              <a:rPr lang="en-US" dirty="0"/>
              <a:t> level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88FA7B-FE87-43A3-92F0-F3A27957A5FF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1156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88FA7B-FE87-43A3-92F0-F3A27957A5FF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60045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groups, layout based only on connectivity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88FA7B-FE87-43A3-92F0-F3A27957A5FF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3655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groups, layout based only on connectivity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88FA7B-FE87-43A3-92F0-F3A27957A5FF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02647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Model: iIT341</a:t>
            </a:r>
          </a:p>
          <a:p>
            <a:r>
              <a:rPr lang="en-US" b="1" dirty="0"/>
              <a:t>Organism: </a:t>
            </a:r>
          </a:p>
          <a:p>
            <a:r>
              <a:rPr lang="en-US" dirty="0"/>
              <a:t>Helicobacter pylori 26695</a:t>
            </a:r>
          </a:p>
          <a:p>
            <a:r>
              <a:rPr lang="en-US" b="1" dirty="0"/>
              <a:t>Genome: </a:t>
            </a:r>
          </a:p>
          <a:p>
            <a:r>
              <a:rPr lang="en-US" dirty="0">
                <a:hlinkClick r:id="rId3"/>
              </a:rPr>
              <a:t>NC_000915.1</a:t>
            </a:r>
            <a:r>
              <a:rPr lang="en-US" dirty="0"/>
              <a:t> </a:t>
            </a:r>
          </a:p>
          <a:p>
            <a:r>
              <a:rPr lang="en-US" b="1" dirty="0"/>
              <a:t>Model metrics: </a:t>
            </a:r>
          </a:p>
          <a:p>
            <a:r>
              <a:rPr lang="en-US" dirty="0"/>
              <a:t>Component Count Metabolites485 Reactions554 Genes339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88FA7B-FE87-43A3-92F0-F3A27957A5FF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38114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rendered respiratory chain for performance reasons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88FA7B-FE87-43A3-92F0-F3A27957A5FF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63410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88FA7B-FE87-43A3-92F0-F3A27957A5FF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62489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show my output </a:t>
            </a:r>
            <a:r>
              <a:rPr lang="en-US" noProof="0" dirty="0" err="1"/>
              <a:t>svg</a:t>
            </a:r>
            <a:r>
              <a:rPr lang="en-US" noProof="0" dirty="0"/>
              <a:t> corresponding to the JSON I gave to Stijn</a:t>
            </a:r>
          </a:p>
          <a:p>
            <a:endParaRPr lang="en-US" noProof="0" dirty="0"/>
          </a:p>
          <a:p>
            <a:r>
              <a:rPr lang="en-US" noProof="0" dirty="0"/>
              <a:t>add image of </a:t>
            </a:r>
            <a:r>
              <a:rPr lang="en-US" noProof="0" dirty="0" err="1"/>
              <a:t>Stijns</a:t>
            </a:r>
            <a:r>
              <a:rPr lang="en-US" noProof="0" dirty="0"/>
              <a:t> </a:t>
            </a:r>
            <a:r>
              <a:rPr lang="en-US" noProof="0" dirty="0" err="1"/>
              <a:t>svg</a:t>
            </a:r>
            <a:r>
              <a:rPr lang="en-US" noProof="0" dirty="0"/>
              <a:t> output which he generated by reading in a JSON file generated by MetaViz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88FA7B-FE87-43A3-92F0-F3A27957A5FF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47205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show different M5_M6 visualizations (groups, auto, compartments)</a:t>
            </a:r>
          </a:p>
          <a:p>
            <a:endParaRPr lang="en-US" noProof="0" dirty="0"/>
          </a:p>
          <a:p>
            <a:r>
              <a:rPr lang="en-US" noProof="0" dirty="0"/>
              <a:t>show which reactions in the output files are also in the template models (implement new coloring mode for that)</a:t>
            </a:r>
          </a:p>
          <a:p>
            <a:endParaRPr lang="en-US" dirty="0"/>
          </a:p>
          <a:p>
            <a:r>
              <a:rPr lang="en-US" dirty="0"/>
              <a:t>- &gt; use black for reactions that exist in both and red for ones that don't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88FA7B-FE87-43A3-92F0-F3A27957A5FF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8170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09.02.2017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690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09.02.2017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3174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09.02.2017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9668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09.02.2017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9066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09.02.2017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7466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09.02.2017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7624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09.02.2017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2177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09.02.2017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2472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09.02.2017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440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09.02.2017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6371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09.02.2017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254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4EEBCB-43CE-4F26-AEFA-10C32BBCF6A7}" type="datetimeFigureOut">
              <a:rPr lang="de-DE" smtClean="0"/>
              <a:t>09.02.2017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8026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/>
          <a:srcRect t="27768" b="18678"/>
          <a:stretch/>
        </p:blipFill>
        <p:spPr>
          <a:xfrm>
            <a:off x="924232" y="391618"/>
            <a:ext cx="10579512" cy="477847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-501445" y="-560439"/>
            <a:ext cx="13539019" cy="6607278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587058"/>
            <a:ext cx="9144000" cy="2387600"/>
          </a:xfrm>
        </p:spPr>
        <p:txBody>
          <a:bodyPr/>
          <a:lstStyle/>
          <a:p>
            <a:r>
              <a:rPr lang="en-US" sz="7200" b="1" noProof="0" dirty="0"/>
              <a:t>MetaViz</a:t>
            </a:r>
            <a:r>
              <a:rPr lang="en-US" noProof="0" dirty="0"/>
              <a:t> </a:t>
            </a:r>
            <a:br>
              <a:rPr lang="en-US" noProof="0" dirty="0"/>
            </a:br>
            <a:r>
              <a:rPr lang="en-US" sz="4400" noProof="0" dirty="0"/>
              <a:t>Metabolic Network Maps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5473382"/>
            <a:ext cx="9144000" cy="1655762"/>
          </a:xfrm>
        </p:spPr>
        <p:txBody>
          <a:bodyPr/>
          <a:lstStyle/>
          <a:p>
            <a:r>
              <a:rPr lang="en-US" noProof="0" dirty="0"/>
              <a:t>Practical, Nicolas Huber</a:t>
            </a:r>
          </a:p>
          <a:p>
            <a:r>
              <a:rPr lang="en-US" noProof="0" dirty="0"/>
              <a:t>Supervisors: Prof. Bas </a:t>
            </a:r>
            <a:r>
              <a:rPr lang="en-US" noProof="0" dirty="0" err="1"/>
              <a:t>Teusink</a:t>
            </a:r>
            <a:r>
              <a:rPr lang="en-US" noProof="0" dirty="0"/>
              <a:t>, Dr. Brett Olivier</a:t>
            </a:r>
          </a:p>
        </p:txBody>
      </p:sp>
    </p:spTree>
    <p:extLst>
      <p:ext uri="{BB962C8B-B14F-4D97-AF65-F5344CB8AC3E}">
        <p14:creationId xmlns:p14="http://schemas.microsoft.com/office/powerpoint/2010/main" val="693389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Why develop another tool?</a:t>
            </a:r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15774"/>
          <a:stretch/>
        </p:blipFill>
        <p:spPr>
          <a:xfrm>
            <a:off x="1324060" y="1553467"/>
            <a:ext cx="9543880" cy="4999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47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/>
        </p:nvSpPr>
        <p:spPr>
          <a:xfrm>
            <a:off x="584617" y="2828836"/>
            <a:ext cx="19010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Vanted</a:t>
            </a:r>
            <a:endParaRPr lang="en-US" sz="3600" dirty="0"/>
          </a:p>
          <a:p>
            <a:r>
              <a:rPr lang="en-US" dirty="0"/>
              <a:t>E. coli, core model</a:t>
            </a:r>
          </a:p>
          <a:p>
            <a:r>
              <a:rPr lang="en-US" dirty="0"/>
              <a:t>72 species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4" t="11147" r="23770" b="10382"/>
          <a:stretch/>
        </p:blipFill>
        <p:spPr>
          <a:xfrm>
            <a:off x="3022783" y="738266"/>
            <a:ext cx="8919148" cy="538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944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/>
        </p:nvSpPr>
        <p:spPr>
          <a:xfrm>
            <a:off x="584617" y="2828836"/>
            <a:ext cx="19010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OptFlux</a:t>
            </a:r>
            <a:endParaRPr lang="en-US" sz="3600" dirty="0"/>
          </a:p>
          <a:p>
            <a:r>
              <a:rPr lang="en-US" dirty="0"/>
              <a:t>E. coli, core model</a:t>
            </a:r>
          </a:p>
          <a:p>
            <a:r>
              <a:rPr lang="en-US" dirty="0"/>
              <a:t>72 species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38" t="18798" r="16516" b="12787"/>
          <a:stretch/>
        </p:blipFill>
        <p:spPr>
          <a:xfrm>
            <a:off x="3746090" y="498422"/>
            <a:ext cx="8611964" cy="586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883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1" t="12241" r="27951" b="14098"/>
          <a:stretch/>
        </p:blipFill>
        <p:spPr>
          <a:xfrm>
            <a:off x="3807502" y="62191"/>
            <a:ext cx="8324538" cy="5054720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584617" y="2690336"/>
            <a:ext cx="279179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MetDraw</a:t>
            </a:r>
            <a:endParaRPr lang="en-US" sz="3600" dirty="0"/>
          </a:p>
          <a:p>
            <a:r>
              <a:rPr lang="en-US" dirty="0"/>
              <a:t>E. coli, genome-scale model</a:t>
            </a:r>
          </a:p>
          <a:p>
            <a:r>
              <a:rPr lang="en-US" dirty="0"/>
              <a:t>1367 species</a:t>
            </a:r>
          </a:p>
          <a:p>
            <a:r>
              <a:rPr lang="en-US" dirty="0"/>
              <a:t>(iJO1366) 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2467988" y="5426439"/>
            <a:ext cx="72560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automatic layout algorithms generate messy "hairballs"! </a:t>
            </a:r>
          </a:p>
          <a:p>
            <a:pPr algn="ctr"/>
            <a:r>
              <a:rPr lang="en-US" sz="2400" dirty="0"/>
              <a:t>&lt;-&gt; </a:t>
            </a:r>
          </a:p>
          <a:p>
            <a:pPr algn="ctr"/>
            <a:r>
              <a:rPr lang="en-US" sz="2400" dirty="0"/>
              <a:t>manual </a:t>
            </a:r>
            <a:r>
              <a:rPr lang="en-US" sz="2400" dirty="0" err="1"/>
              <a:t>layouting</a:t>
            </a:r>
            <a:r>
              <a:rPr lang="en-US" sz="2400" dirty="0"/>
              <a:t> takes away valuable time! </a:t>
            </a:r>
          </a:p>
        </p:txBody>
      </p:sp>
    </p:spTree>
    <p:extLst>
      <p:ext uri="{BB962C8B-B14F-4D97-AF65-F5344CB8AC3E}">
        <p14:creationId xmlns:p14="http://schemas.microsoft.com/office/powerpoint/2010/main" val="4077933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4"/>
          <p:cNvSpPr txBox="1"/>
          <p:nvPr/>
        </p:nvSpPr>
        <p:spPr>
          <a:xfrm>
            <a:off x="584617" y="2690336"/>
            <a:ext cx="279179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MetaViz</a:t>
            </a:r>
          </a:p>
          <a:p>
            <a:r>
              <a:rPr lang="en-US" dirty="0"/>
              <a:t>E. coli, genome-scale model</a:t>
            </a:r>
          </a:p>
          <a:p>
            <a:r>
              <a:rPr lang="en-US" dirty="0"/>
              <a:t>1367 species</a:t>
            </a:r>
          </a:p>
          <a:p>
            <a:r>
              <a:rPr lang="en-US" dirty="0"/>
              <a:t>(iJO1366)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717" y="0"/>
            <a:ext cx="7968427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055373" y="4032359"/>
            <a:ext cx="619591" cy="4946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352104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4"/>
          <p:cNvSpPr txBox="1"/>
          <p:nvPr/>
        </p:nvSpPr>
        <p:spPr>
          <a:xfrm>
            <a:off x="584617" y="2690336"/>
            <a:ext cx="279179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MetaViz</a:t>
            </a:r>
          </a:p>
          <a:p>
            <a:r>
              <a:rPr lang="en-US" dirty="0"/>
              <a:t>E. coli, genome-scale model</a:t>
            </a:r>
          </a:p>
          <a:p>
            <a:r>
              <a:rPr lang="en-US" dirty="0"/>
              <a:t>1367 species</a:t>
            </a:r>
          </a:p>
          <a:p>
            <a:r>
              <a:rPr lang="en-US" dirty="0"/>
              <a:t>(iJO1366)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573" y="37714"/>
            <a:ext cx="79684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254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noProof="0" dirty="0"/>
              <a:t>MetaViz</a:t>
            </a:r>
            <a:r>
              <a:rPr lang="en-US" noProof="0" dirty="0"/>
              <a:t> Features (so far)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noProof="0" dirty="0"/>
          </a:p>
          <a:p>
            <a:r>
              <a:rPr lang="en-US" noProof="0" dirty="0"/>
              <a:t>only input: SBML level 3 file (groups annotation optional)</a:t>
            </a:r>
          </a:p>
          <a:p>
            <a:endParaRPr lang="en-US" noProof="0" dirty="0"/>
          </a:p>
          <a:p>
            <a:r>
              <a:rPr lang="en-US" noProof="0" dirty="0"/>
              <a:t>if no groups defined: </a:t>
            </a:r>
          </a:p>
          <a:p>
            <a:pPr lvl="1"/>
            <a:r>
              <a:rPr lang="en-US" noProof="0" dirty="0"/>
              <a:t>clone parts of the network based on connectivity</a:t>
            </a:r>
          </a:p>
          <a:p>
            <a:pPr lvl="1"/>
            <a:r>
              <a:rPr lang="en-US" noProof="0" dirty="0"/>
              <a:t>automatically detect cycles</a:t>
            </a:r>
          </a:p>
          <a:p>
            <a:endParaRPr lang="en-US" noProof="0" dirty="0"/>
          </a:p>
          <a:p>
            <a:r>
              <a:rPr lang="en-US" noProof="0" dirty="0"/>
              <a:t>if groups defined:</a:t>
            </a:r>
          </a:p>
          <a:p>
            <a:pPr lvl="1"/>
            <a:r>
              <a:rPr lang="en-US" noProof="0" dirty="0"/>
              <a:t>layout pathways individually </a:t>
            </a:r>
          </a:p>
          <a:p>
            <a:pPr marL="457200" lvl="1" indent="0">
              <a:buNone/>
            </a:pPr>
            <a:r>
              <a:rPr lang="en-US" noProof="0" dirty="0"/>
              <a:t>   (TCA: circular, Glycolysis: linear, etc.)</a:t>
            </a:r>
          </a:p>
        </p:txBody>
      </p:sp>
    </p:spTree>
    <p:extLst>
      <p:ext uri="{BB962C8B-B14F-4D97-AF65-F5344CB8AC3E}">
        <p14:creationId xmlns:p14="http://schemas.microsoft.com/office/powerpoint/2010/main" val="106518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groups?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9662" t="10632" r="19831" b="34774"/>
          <a:stretch/>
        </p:blipFill>
        <p:spPr>
          <a:xfrm>
            <a:off x="2199502" y="1541501"/>
            <a:ext cx="7376984" cy="37440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01712" y="5614598"/>
            <a:ext cx="97885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-    groups are sets of reaction ids (of a compartment, a pathway, etc. … )</a:t>
            </a:r>
          </a:p>
          <a:p>
            <a:endParaRPr lang="en-US" sz="2000" dirty="0"/>
          </a:p>
          <a:p>
            <a:r>
              <a:rPr lang="en-US" sz="2000" dirty="0"/>
              <a:t>-    defining groups (with CBMPY) will add a list of groups and their elements to the SBML file</a:t>
            </a:r>
          </a:p>
        </p:txBody>
      </p:sp>
    </p:spTree>
    <p:extLst>
      <p:ext uri="{BB962C8B-B14F-4D97-AF65-F5344CB8AC3E}">
        <p14:creationId xmlns:p14="http://schemas.microsoft.com/office/powerpoint/2010/main" val="2895429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4"/>
          <p:cNvSpPr txBox="1"/>
          <p:nvPr/>
        </p:nvSpPr>
        <p:spPr>
          <a:xfrm>
            <a:off x="584617" y="2690336"/>
            <a:ext cx="279179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MetaViz</a:t>
            </a:r>
          </a:p>
          <a:p>
            <a:r>
              <a:rPr lang="en-US" dirty="0"/>
              <a:t>E. coli, genome-scale model</a:t>
            </a:r>
          </a:p>
          <a:p>
            <a:r>
              <a:rPr lang="en-US" dirty="0"/>
              <a:t>1668 species</a:t>
            </a:r>
          </a:p>
          <a:p>
            <a:r>
              <a:rPr lang="en-US" dirty="0"/>
              <a:t>(iAF1260)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0"/>
            <a:ext cx="7106736" cy="6858000"/>
          </a:xfrm>
          <a:prstGeom prst="rect">
            <a:avLst/>
          </a:prstGeom>
        </p:spPr>
      </p:pic>
      <p:grpSp>
        <p:nvGrpSpPr>
          <p:cNvPr id="17" name="Group 16"/>
          <p:cNvGrpSpPr/>
          <p:nvPr/>
        </p:nvGrpSpPr>
        <p:grpSpPr>
          <a:xfrm>
            <a:off x="2558354" y="4267200"/>
            <a:ext cx="3418584" cy="986449"/>
            <a:chOff x="2558354" y="4267200"/>
            <a:chExt cx="3418584" cy="986449"/>
          </a:xfrm>
        </p:grpSpPr>
        <p:sp>
          <p:nvSpPr>
            <p:cNvPr id="6" name="TextBox 5"/>
            <p:cNvSpPr txBox="1"/>
            <p:nvPr/>
          </p:nvSpPr>
          <p:spPr>
            <a:xfrm>
              <a:off x="2558354" y="4884317"/>
              <a:ext cx="28277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Pentose Phosphate Pathway</a:t>
              </a:r>
            </a:p>
          </p:txBody>
        </p:sp>
        <p:cxnSp>
          <p:nvCxnSpPr>
            <p:cNvPr id="9" name="Straight Arrow Connector 8"/>
            <p:cNvCxnSpPr>
              <a:cxnSpLocks/>
            </p:cNvCxnSpPr>
            <p:nvPr/>
          </p:nvCxnSpPr>
          <p:spPr>
            <a:xfrm flipV="1">
              <a:off x="5386116" y="4267200"/>
              <a:ext cx="590822" cy="76024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2266466" y="6220918"/>
            <a:ext cx="3504747" cy="369332"/>
            <a:chOff x="2266466" y="6220918"/>
            <a:chExt cx="3504747" cy="369332"/>
          </a:xfrm>
        </p:grpSpPr>
        <p:sp>
          <p:nvSpPr>
            <p:cNvPr id="7" name="TextBox 6"/>
            <p:cNvSpPr txBox="1"/>
            <p:nvPr/>
          </p:nvSpPr>
          <p:spPr>
            <a:xfrm>
              <a:off x="2266466" y="6220918"/>
              <a:ext cx="26895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Glycine Serine Metabolism</a:t>
              </a:r>
            </a:p>
          </p:txBody>
        </p:sp>
        <p:cxnSp>
          <p:nvCxnSpPr>
            <p:cNvPr id="10" name="Straight Arrow Connector 9"/>
            <p:cNvCxnSpPr>
              <a:cxnSpLocks/>
            </p:cNvCxnSpPr>
            <p:nvPr/>
          </p:nvCxnSpPr>
          <p:spPr>
            <a:xfrm>
              <a:off x="5001019" y="6405584"/>
              <a:ext cx="77019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2764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555554" y="0"/>
            <a:ext cx="4112645" cy="6858000"/>
            <a:chOff x="7376213" y="-29980"/>
            <a:chExt cx="4112645" cy="6858000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2"/>
            <a:srcRect l="15055" r="30736"/>
            <a:stretch/>
          </p:blipFill>
          <p:spPr>
            <a:xfrm>
              <a:off x="7376213" y="-29980"/>
              <a:ext cx="3852472" cy="6858000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7784574" y="6366355"/>
              <a:ext cx="37042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Pentose Phosphate Pathway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668199" y="-20252"/>
            <a:ext cx="7106736" cy="6898504"/>
            <a:chOff x="9304" y="-29980"/>
            <a:chExt cx="7106736" cy="6898504"/>
          </a:xfrm>
        </p:grpSpPr>
        <p:grpSp>
          <p:nvGrpSpPr>
            <p:cNvPr id="9" name="Group 8"/>
            <p:cNvGrpSpPr/>
            <p:nvPr/>
          </p:nvGrpSpPr>
          <p:grpSpPr>
            <a:xfrm>
              <a:off x="9304" y="-29980"/>
              <a:ext cx="7106736" cy="6858000"/>
              <a:chOff x="9304" y="-29980"/>
              <a:chExt cx="7106736" cy="6858000"/>
            </a:xfrm>
          </p:grpSpPr>
          <p:pic>
            <p:nvPicPr>
              <p:cNvPr id="6" name="Picture 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04" y="-29980"/>
                <a:ext cx="7106736" cy="6858000"/>
              </a:xfrm>
              <a:prstGeom prst="rect">
                <a:avLst/>
              </a:prstGeom>
            </p:spPr>
          </p:pic>
          <p:sp>
            <p:nvSpPr>
              <p:cNvPr id="8" name="Rectangle 7"/>
              <p:cNvSpPr/>
              <p:nvPr/>
            </p:nvSpPr>
            <p:spPr>
              <a:xfrm>
                <a:off x="149902" y="5561351"/>
                <a:ext cx="1383079" cy="5096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1532981" y="6406859"/>
              <a:ext cx="40593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Glycine and Serine Metabolism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56840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4"/>
          <p:cNvSpPr txBox="1"/>
          <p:nvPr/>
        </p:nvSpPr>
        <p:spPr>
          <a:xfrm>
            <a:off x="584617" y="2690336"/>
            <a:ext cx="339227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MetaViz</a:t>
            </a:r>
          </a:p>
          <a:p>
            <a:r>
              <a:rPr lang="en-US" dirty="0"/>
              <a:t>S. cerevisiae, genome-scale model</a:t>
            </a:r>
          </a:p>
          <a:p>
            <a:r>
              <a:rPr lang="en-US" dirty="0"/>
              <a:t>1059 species</a:t>
            </a:r>
          </a:p>
          <a:p>
            <a:r>
              <a:rPr lang="en-US" dirty="0"/>
              <a:t>(iND750)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755" y="15389"/>
            <a:ext cx="8465898" cy="6858000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1968210" y="3672590"/>
            <a:ext cx="5451921" cy="2127550"/>
            <a:chOff x="2558354" y="3126099"/>
            <a:chExt cx="5451921" cy="2127550"/>
          </a:xfrm>
        </p:grpSpPr>
        <p:sp>
          <p:nvSpPr>
            <p:cNvPr id="7" name="TextBox 6"/>
            <p:cNvSpPr txBox="1"/>
            <p:nvPr/>
          </p:nvSpPr>
          <p:spPr>
            <a:xfrm>
              <a:off x="2558354" y="4884317"/>
              <a:ext cx="25596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Glycoprotein Metabolism</a:t>
              </a:r>
            </a:p>
          </p:txBody>
        </p:sp>
        <p:cxnSp>
          <p:nvCxnSpPr>
            <p:cNvPr id="8" name="Straight Arrow Connector 7"/>
            <p:cNvCxnSpPr>
              <a:cxnSpLocks/>
            </p:cNvCxnSpPr>
            <p:nvPr/>
          </p:nvCxnSpPr>
          <p:spPr>
            <a:xfrm flipV="1">
              <a:off x="5156616" y="3126099"/>
              <a:ext cx="2853659" cy="192558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1968210" y="6056026"/>
            <a:ext cx="8030229" cy="617368"/>
            <a:chOff x="2558354" y="4636281"/>
            <a:chExt cx="8030229" cy="617368"/>
          </a:xfrm>
        </p:grpSpPr>
        <p:sp>
          <p:nvSpPr>
            <p:cNvPr id="12" name="TextBox 11"/>
            <p:cNvSpPr txBox="1"/>
            <p:nvPr/>
          </p:nvSpPr>
          <p:spPr>
            <a:xfrm>
              <a:off x="2558354" y="4884317"/>
              <a:ext cx="26562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Oxidative Phosphorylation</a:t>
              </a:r>
            </a:p>
          </p:txBody>
        </p:sp>
        <p:cxnSp>
          <p:nvCxnSpPr>
            <p:cNvPr id="13" name="Straight Arrow Connector 12"/>
            <p:cNvCxnSpPr>
              <a:cxnSpLocks/>
            </p:cNvCxnSpPr>
            <p:nvPr/>
          </p:nvCxnSpPr>
          <p:spPr>
            <a:xfrm flipV="1">
              <a:off x="5386116" y="4636281"/>
              <a:ext cx="5202467" cy="39116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01059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4"/>
          <p:cNvSpPr txBox="1"/>
          <p:nvPr/>
        </p:nvSpPr>
        <p:spPr>
          <a:xfrm>
            <a:off x="584617" y="2690336"/>
            <a:ext cx="279179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MetaViz</a:t>
            </a:r>
          </a:p>
          <a:p>
            <a:r>
              <a:rPr lang="en-US" dirty="0"/>
              <a:t>E. coli, genome-scale model</a:t>
            </a:r>
          </a:p>
          <a:p>
            <a:r>
              <a:rPr lang="en-US" dirty="0"/>
              <a:t>1367 species</a:t>
            </a:r>
          </a:p>
          <a:p>
            <a:r>
              <a:rPr lang="en-US" dirty="0"/>
              <a:t>(iJO1366)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58591" y="6321383"/>
            <a:ext cx="33464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Glycoprotein Metabolism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5970" r="11872" b="9946"/>
          <a:stretch/>
        </p:blipFill>
        <p:spPr>
          <a:xfrm>
            <a:off x="173509" y="585047"/>
            <a:ext cx="6405796" cy="568790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42830" r="24403"/>
          <a:stretch/>
        </p:blipFill>
        <p:spPr>
          <a:xfrm>
            <a:off x="7615004" y="-131308"/>
            <a:ext cx="3402767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77513" y="6265027"/>
            <a:ext cx="34777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Oxidative Phosphorylation</a:t>
            </a:r>
          </a:p>
        </p:txBody>
      </p:sp>
    </p:spTree>
    <p:extLst>
      <p:ext uri="{BB962C8B-B14F-4D97-AF65-F5344CB8AC3E}">
        <p14:creationId xmlns:p14="http://schemas.microsoft.com/office/powerpoint/2010/main" val="1925524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9893" y="0"/>
            <a:ext cx="8750168" cy="6858000"/>
          </a:xfrm>
          <a:prstGeom prst="rect">
            <a:avLst/>
          </a:prstGeom>
        </p:spPr>
      </p:pic>
      <p:sp>
        <p:nvSpPr>
          <p:cNvPr id="3" name="Textfeld 4"/>
          <p:cNvSpPr txBox="1"/>
          <p:nvPr/>
        </p:nvSpPr>
        <p:spPr>
          <a:xfrm>
            <a:off x="584617" y="2690336"/>
            <a:ext cx="190103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MetaViz</a:t>
            </a:r>
          </a:p>
          <a:p>
            <a:r>
              <a:rPr lang="en-US" dirty="0"/>
              <a:t>E. coli, core model</a:t>
            </a:r>
          </a:p>
          <a:p>
            <a:r>
              <a:rPr lang="en-US" dirty="0"/>
              <a:t>46 species</a:t>
            </a:r>
          </a:p>
          <a:p>
            <a:r>
              <a:rPr lang="en-US" dirty="0"/>
              <a:t>(Carlson model)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617" y="4757351"/>
            <a:ext cx="34314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Layout without predefined groups 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dirty="0"/>
              <a:t>based on connectivity </a:t>
            </a:r>
          </a:p>
          <a:p>
            <a:r>
              <a:rPr lang="en-US" dirty="0"/>
              <a:t>     (and </a:t>
            </a:r>
            <a:r>
              <a:rPr lang="en-US" dirty="0" err="1"/>
              <a:t>autom</a:t>
            </a:r>
            <a:r>
              <a:rPr lang="en-US" dirty="0"/>
              <a:t>. cycle detection)</a:t>
            </a:r>
          </a:p>
        </p:txBody>
      </p:sp>
    </p:spTree>
    <p:extLst>
      <p:ext uri="{BB962C8B-B14F-4D97-AF65-F5344CB8AC3E}">
        <p14:creationId xmlns:p14="http://schemas.microsoft.com/office/powerpoint/2010/main" val="2646038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4"/>
          <p:cNvSpPr txBox="1"/>
          <p:nvPr/>
        </p:nvSpPr>
        <p:spPr>
          <a:xfrm>
            <a:off x="584617" y="2690336"/>
            <a:ext cx="190103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MetaViz</a:t>
            </a:r>
          </a:p>
          <a:p>
            <a:r>
              <a:rPr lang="en-US" dirty="0"/>
              <a:t>E. coli, core model</a:t>
            </a:r>
          </a:p>
          <a:p>
            <a:r>
              <a:rPr lang="en-US" dirty="0"/>
              <a:t>46 species</a:t>
            </a:r>
          </a:p>
          <a:p>
            <a:r>
              <a:rPr lang="en-US" dirty="0"/>
              <a:t>(Carlson model)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101" y="0"/>
            <a:ext cx="8750168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4617" y="4757351"/>
            <a:ext cx="34314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Layout without predefined groups 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dirty="0"/>
              <a:t>based on connectivity </a:t>
            </a:r>
          </a:p>
          <a:p>
            <a:r>
              <a:rPr lang="en-US" dirty="0"/>
              <a:t>     (and </a:t>
            </a:r>
            <a:r>
              <a:rPr lang="en-US" dirty="0" err="1"/>
              <a:t>autom</a:t>
            </a:r>
            <a:r>
              <a:rPr lang="en-US" dirty="0"/>
              <a:t>. cycle detection)</a:t>
            </a:r>
          </a:p>
        </p:txBody>
      </p:sp>
    </p:spTree>
    <p:extLst>
      <p:ext uri="{BB962C8B-B14F-4D97-AF65-F5344CB8AC3E}">
        <p14:creationId xmlns:p14="http://schemas.microsoft.com/office/powerpoint/2010/main" val="4208228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noProof="0" dirty="0"/>
              <a:t>MetaViz</a:t>
            </a:r>
            <a:r>
              <a:rPr lang="en-US" noProof="0" dirty="0"/>
              <a:t> Features (so far)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noProof="0" dirty="0"/>
          </a:p>
          <a:p>
            <a:r>
              <a:rPr lang="en-US" noProof="0" dirty="0"/>
              <a:t>multiple coloring options </a:t>
            </a:r>
          </a:p>
          <a:p>
            <a:pPr marL="0" indent="0">
              <a:buNone/>
            </a:pPr>
            <a:r>
              <a:rPr lang="en-US" noProof="0" dirty="0"/>
              <a:t>   (overlay flux data, highlight pathways, etc.)</a:t>
            </a:r>
          </a:p>
          <a:p>
            <a:endParaRPr lang="en-US" noProof="0" dirty="0"/>
          </a:p>
          <a:p>
            <a:r>
              <a:rPr lang="en-US" noProof="0" dirty="0"/>
              <a:t>multiple output options:</a:t>
            </a:r>
          </a:p>
          <a:p>
            <a:pPr lvl="1"/>
            <a:r>
              <a:rPr lang="en-US" noProof="0" dirty="0"/>
              <a:t>SVG</a:t>
            </a:r>
          </a:p>
          <a:p>
            <a:pPr lvl="1"/>
            <a:r>
              <a:rPr lang="en-US" noProof="0" dirty="0"/>
              <a:t>JSON</a:t>
            </a:r>
          </a:p>
          <a:p>
            <a:pPr lvl="1"/>
            <a:r>
              <a:rPr lang="en-US" noProof="0" dirty="0"/>
              <a:t>GML</a:t>
            </a:r>
          </a:p>
          <a:p>
            <a:pPr lvl="1"/>
            <a:r>
              <a:rPr lang="en-US" noProof="0" dirty="0"/>
              <a:t>SBML with Layout Plugin</a:t>
            </a:r>
          </a:p>
          <a:p>
            <a:pPr lvl="1"/>
            <a:r>
              <a:rPr lang="en-US" noProof="0" dirty="0"/>
              <a:t>SBGN</a:t>
            </a:r>
          </a:p>
          <a:p>
            <a:pPr lvl="1"/>
            <a:r>
              <a:rPr lang="en-US" noProof="0" dirty="0"/>
              <a:t>Tulip graph file (.</a:t>
            </a:r>
            <a:r>
              <a:rPr lang="en-US" noProof="0" dirty="0" err="1"/>
              <a:t>tlp</a:t>
            </a:r>
            <a:r>
              <a:rPr lang="en-US" noProof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23097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-134912"/>
            <a:ext cx="6007536" cy="7232754"/>
            <a:chOff x="0" y="-134912"/>
            <a:chExt cx="6007536" cy="7232754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3"/>
            <a:srcRect l="12757" r="32531"/>
            <a:stretch/>
          </p:blipFill>
          <p:spPr>
            <a:xfrm>
              <a:off x="0" y="-134912"/>
              <a:ext cx="6007536" cy="7232754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845887" y="6445763"/>
              <a:ext cx="23157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Pathway coloring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278210" y="-134912"/>
            <a:ext cx="5769628" cy="7067053"/>
            <a:chOff x="6278210" y="-134912"/>
            <a:chExt cx="5769628" cy="7067053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4"/>
            <a:srcRect r="31547"/>
            <a:stretch/>
          </p:blipFill>
          <p:spPr>
            <a:xfrm>
              <a:off x="6278210" y="-134912"/>
              <a:ext cx="5769628" cy="6606026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7962332" y="6470476"/>
              <a:ext cx="17658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Flux coloring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2556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98333" y="6403560"/>
            <a:ext cx="30667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SVG output in </a:t>
            </a:r>
            <a:r>
              <a:rPr lang="en-US" sz="2400" dirty="0" err="1"/>
              <a:t>Inkscape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r="8378" b="6626"/>
          <a:stretch/>
        </p:blipFill>
        <p:spPr>
          <a:xfrm>
            <a:off x="510746" y="0"/>
            <a:ext cx="11170508" cy="640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603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" r="20845" b="6836"/>
          <a:stretch/>
        </p:blipFill>
        <p:spPr>
          <a:xfrm>
            <a:off x="1270687" y="0"/>
            <a:ext cx="9650627" cy="638913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198333" y="6403560"/>
            <a:ext cx="3795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import GML file in </a:t>
            </a:r>
            <a:r>
              <a:rPr lang="en-US" sz="2400" dirty="0" err="1"/>
              <a:t>Cytoscape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70505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noProof="0" dirty="0"/>
              <a:t>MetaViz</a:t>
            </a:r>
            <a:r>
              <a:rPr lang="en-US" noProof="0" dirty="0"/>
              <a:t> Features (so far)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noProof="0" dirty="0"/>
          </a:p>
          <a:p>
            <a:r>
              <a:rPr lang="en-US" sz="4000" b="1" noProof="0" dirty="0"/>
              <a:t>separation of layout and rendering information!</a:t>
            </a:r>
          </a:p>
          <a:p>
            <a:pPr marL="0" indent="0">
              <a:buNone/>
            </a:pPr>
            <a:r>
              <a:rPr lang="en-US" dirty="0"/>
              <a:t>          </a:t>
            </a:r>
            <a:r>
              <a:rPr lang="en-US" noProof="0" dirty="0"/>
              <a:t>-&gt; layout once, render many different parts with different 		    configurations! </a:t>
            </a:r>
          </a:p>
          <a:p>
            <a:endParaRPr lang="en-US" noProof="0" dirty="0"/>
          </a:p>
          <a:p>
            <a:r>
              <a:rPr lang="en-US" noProof="0" dirty="0"/>
              <a:t>all generated information stored in SQLite database</a:t>
            </a:r>
          </a:p>
          <a:p>
            <a:pPr marL="0" indent="0">
              <a:buNone/>
            </a:pPr>
            <a:r>
              <a:rPr lang="en-US" noProof="0" dirty="0"/>
              <a:t>	-&gt; compatibility with other graph visualization libraries 	 	     	     (</a:t>
            </a:r>
            <a:r>
              <a:rPr lang="en-US" noProof="0" dirty="0" err="1"/>
              <a:t>NetworkX</a:t>
            </a:r>
            <a:r>
              <a:rPr lang="en-US" noProof="0" dirty="0"/>
              <a:t>, d3, </a:t>
            </a:r>
            <a:r>
              <a:rPr lang="en-US" noProof="0" dirty="0" err="1"/>
              <a:t>Plotly</a:t>
            </a:r>
            <a:r>
              <a:rPr lang="en-US" noProof="0" dirty="0"/>
              <a:t>, etc.)</a:t>
            </a:r>
          </a:p>
          <a:p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315033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24681" r="17164"/>
          <a:stretch/>
        </p:blipFill>
        <p:spPr>
          <a:xfrm>
            <a:off x="7299880" y="1064406"/>
            <a:ext cx="4287462" cy="48562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91229" y="5528197"/>
            <a:ext cx="409285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   choose id or name for labels</a:t>
            </a:r>
          </a:p>
          <a:p>
            <a:r>
              <a:rPr lang="en-US" sz="2400" dirty="0"/>
              <a:t>-   show/hide defined cofactors</a:t>
            </a:r>
          </a:p>
          <a:p>
            <a:r>
              <a:rPr lang="en-US" sz="2400" dirty="0"/>
              <a:t>-   …</a:t>
            </a:r>
          </a:p>
          <a:p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7299880" y="6313027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b="11726"/>
          <a:stretch/>
        </p:blipFill>
        <p:spPr>
          <a:xfrm>
            <a:off x="204995" y="877840"/>
            <a:ext cx="6002416" cy="43148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1006" y="517034"/>
            <a:ext cx="4834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Alanine Metabolism (</a:t>
            </a:r>
            <a:r>
              <a:rPr lang="en-US" sz="2400" dirty="0" err="1"/>
              <a:t>H.pylori</a:t>
            </a:r>
            <a:r>
              <a:rPr lang="en-US" sz="2400" dirty="0"/>
              <a:t>, iIT341)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91300" y="517034"/>
            <a:ext cx="4704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Purine Metabolism (</a:t>
            </a:r>
            <a:r>
              <a:rPr lang="en-US" sz="2400" dirty="0" err="1"/>
              <a:t>H.pylori</a:t>
            </a:r>
            <a:r>
              <a:rPr lang="en-US" sz="2400" dirty="0"/>
              <a:t>, iIT341)</a:t>
            </a:r>
          </a:p>
        </p:txBody>
      </p:sp>
    </p:spTree>
    <p:extLst>
      <p:ext uri="{BB962C8B-B14F-4D97-AF65-F5344CB8AC3E}">
        <p14:creationId xmlns:p14="http://schemas.microsoft.com/office/powerpoint/2010/main" val="31385288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14775"/>
          <a:stretch/>
        </p:blipFill>
        <p:spPr>
          <a:xfrm>
            <a:off x="1809750" y="420131"/>
            <a:ext cx="8572500" cy="584474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889898" y="6222325"/>
            <a:ext cx="6412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render only part of the network in a specified 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7300" y="247135"/>
            <a:ext cx="4557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radial layout of all transport reactions in iIT341</a:t>
            </a:r>
          </a:p>
        </p:txBody>
      </p:sp>
    </p:spTree>
    <p:extLst>
      <p:ext uri="{BB962C8B-B14F-4D97-AF65-F5344CB8AC3E}">
        <p14:creationId xmlns:p14="http://schemas.microsoft.com/office/powerpoint/2010/main" val="3264689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5135"/>
          <a:stretch/>
        </p:blipFill>
        <p:spPr>
          <a:xfrm>
            <a:off x="1809750" y="402293"/>
            <a:ext cx="8572500" cy="582003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889898" y="6222325"/>
            <a:ext cx="6412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render only part of the network in a specified 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7300" y="247135"/>
            <a:ext cx="4557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radial layout of all transport reactions in iIT341</a:t>
            </a:r>
          </a:p>
        </p:txBody>
      </p:sp>
    </p:spTree>
    <p:extLst>
      <p:ext uri="{BB962C8B-B14F-4D97-AF65-F5344CB8AC3E}">
        <p14:creationId xmlns:p14="http://schemas.microsoft.com/office/powerpoint/2010/main" val="27325454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135924" y="511969"/>
            <a:ext cx="12455610" cy="5081006"/>
            <a:chOff x="135924" y="17689"/>
            <a:chExt cx="12455610" cy="5081006"/>
          </a:xfrm>
        </p:grpSpPr>
        <p:grpSp>
          <p:nvGrpSpPr>
            <p:cNvPr id="10" name="Group 9"/>
            <p:cNvGrpSpPr/>
            <p:nvPr/>
          </p:nvGrpSpPr>
          <p:grpSpPr>
            <a:xfrm>
              <a:off x="135924" y="17689"/>
              <a:ext cx="3917092" cy="5081006"/>
              <a:chOff x="259492" y="17689"/>
              <a:chExt cx="3917092" cy="5081006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 rotWithShape="1">
              <a:blip r:embed="rId3"/>
              <a:srcRect l="18197" r="19102"/>
              <a:stretch/>
            </p:blipFill>
            <p:spPr>
              <a:xfrm>
                <a:off x="259492" y="17689"/>
                <a:ext cx="3917092" cy="4896340"/>
              </a:xfrm>
              <a:prstGeom prst="rect">
                <a:avLst/>
              </a:prstGeom>
            </p:spPr>
          </p:pic>
          <p:sp>
            <p:nvSpPr>
              <p:cNvPr id="9" name="TextBox 8"/>
              <p:cNvSpPr txBox="1"/>
              <p:nvPr/>
            </p:nvSpPr>
            <p:spPr>
              <a:xfrm>
                <a:off x="1094384" y="4729363"/>
                <a:ext cx="22211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S. cerevisiae (iND750)</a:t>
                </a: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7834183" y="160427"/>
              <a:ext cx="4757351" cy="4938268"/>
              <a:chOff x="6400799" y="366057"/>
              <a:chExt cx="4757351" cy="4938268"/>
            </a:xfrm>
          </p:grpSpPr>
          <p:pic>
            <p:nvPicPr>
              <p:cNvPr id="5" name="Picture 4"/>
              <p:cNvPicPr>
                <a:picLocks noChangeAspect="1"/>
              </p:cNvPicPr>
              <p:nvPr/>
            </p:nvPicPr>
            <p:blipFill rotWithShape="1">
              <a:blip r:embed="rId4"/>
              <a:srcRect l="13242" r="18171"/>
              <a:stretch/>
            </p:blipFill>
            <p:spPr>
              <a:xfrm>
                <a:off x="6400799" y="366057"/>
                <a:ext cx="4757351" cy="4568936"/>
              </a:xfrm>
              <a:prstGeom prst="rect">
                <a:avLst/>
              </a:prstGeom>
            </p:spPr>
          </p:pic>
          <p:sp>
            <p:nvSpPr>
              <p:cNvPr id="6" name="TextBox 5"/>
              <p:cNvSpPr txBox="1"/>
              <p:nvPr/>
            </p:nvSpPr>
            <p:spPr>
              <a:xfrm>
                <a:off x="7935909" y="4934993"/>
                <a:ext cx="16871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H.pylori</a:t>
                </a:r>
                <a:r>
                  <a:rPr lang="en-US" dirty="0"/>
                  <a:t> (iIT341)</a:t>
                </a: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4053016" y="219972"/>
              <a:ext cx="3896498" cy="4865279"/>
              <a:chOff x="4053016" y="219972"/>
              <a:chExt cx="3896498" cy="4865279"/>
            </a:xfrm>
          </p:grpSpPr>
          <p:pic>
            <p:nvPicPr>
              <p:cNvPr id="15" name="Picture 14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53016" y="219972"/>
                <a:ext cx="3896498" cy="4449846"/>
              </a:xfrm>
              <a:prstGeom prst="rect">
                <a:avLst/>
              </a:prstGeom>
            </p:spPr>
          </p:pic>
          <p:sp>
            <p:nvSpPr>
              <p:cNvPr id="13" name="TextBox 12"/>
              <p:cNvSpPr txBox="1"/>
              <p:nvPr/>
            </p:nvSpPr>
            <p:spPr>
              <a:xfrm>
                <a:off x="4985439" y="4715919"/>
                <a:ext cx="16366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E. coli (iJ01366)</a:t>
                </a:r>
              </a:p>
            </p:txBody>
          </p:sp>
        </p:grpSp>
      </p:grpSp>
      <p:sp>
        <p:nvSpPr>
          <p:cNvPr id="18" name="TextBox 17"/>
          <p:cNvSpPr txBox="1"/>
          <p:nvPr/>
        </p:nvSpPr>
        <p:spPr>
          <a:xfrm>
            <a:off x="2987168" y="6170107"/>
            <a:ext cx="6217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TCA in three different organisms with flux values</a:t>
            </a:r>
          </a:p>
        </p:txBody>
      </p:sp>
    </p:spTree>
    <p:extLst>
      <p:ext uri="{BB962C8B-B14F-4D97-AF65-F5344CB8AC3E}">
        <p14:creationId xmlns:p14="http://schemas.microsoft.com/office/powerpoint/2010/main" val="10047040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Use Case: Stijn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8730" t="22733" r="36311" b="26776"/>
          <a:stretch/>
        </p:blipFill>
        <p:spPr>
          <a:xfrm>
            <a:off x="4653197" y="3086958"/>
            <a:ext cx="6700603" cy="346272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l="17582" t="18142" r="35369" b="21093"/>
          <a:stretch/>
        </p:blipFill>
        <p:spPr>
          <a:xfrm>
            <a:off x="-345989" y="1244050"/>
            <a:ext cx="4919910" cy="3574272"/>
          </a:xfrm>
          <a:prstGeom prst="rect">
            <a:avLst/>
          </a:prstGeom>
        </p:spPr>
      </p:pic>
      <p:sp>
        <p:nvSpPr>
          <p:cNvPr id="10" name="Arrow: Bent-Up 9"/>
          <p:cNvSpPr/>
          <p:nvPr/>
        </p:nvSpPr>
        <p:spPr>
          <a:xfrm rot="5400000">
            <a:off x="2042984" y="4850811"/>
            <a:ext cx="1409273" cy="1988477"/>
          </a:xfrm>
          <a:prstGeom prst="bent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965075" y="1408344"/>
            <a:ext cx="7029040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Layout nucleotide reactions from yeast model Y5</a:t>
            </a:r>
          </a:p>
          <a:p>
            <a:endParaRPr lang="en-US" sz="2000" dirty="0"/>
          </a:p>
          <a:p>
            <a:r>
              <a:rPr lang="en-US" sz="2000" dirty="0"/>
              <a:t>1.)</a:t>
            </a:r>
            <a:r>
              <a:rPr lang="en-US" sz="2000" b="1" dirty="0"/>
              <a:t> MetaViz</a:t>
            </a:r>
            <a:r>
              <a:rPr lang="en-US" sz="2000" dirty="0"/>
              <a:t>: Y5 SBML file </a:t>
            </a:r>
            <a:r>
              <a:rPr lang="en-US" sz="2000" dirty="0">
                <a:sym typeface="Wingdings" panose="05000000000000000000" pitchFamily="2" charset="2"/>
              </a:rPr>
              <a:t> SVG and JSON files containing layout </a:t>
            </a:r>
          </a:p>
          <a:p>
            <a:endParaRPr lang="en-US" sz="2000" dirty="0">
              <a:sym typeface="Wingdings" panose="05000000000000000000" pitchFamily="2" charset="2"/>
            </a:endParaRPr>
          </a:p>
          <a:p>
            <a:r>
              <a:rPr lang="en-US" sz="2000" dirty="0">
                <a:sym typeface="Wingdings" panose="05000000000000000000" pitchFamily="2" charset="2"/>
              </a:rPr>
              <a:t>2.) JSON file as input for Stijn script </a:t>
            </a:r>
            <a:endParaRPr lang="en-US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2261286" y="5287583"/>
            <a:ext cx="9519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JSON</a:t>
            </a:r>
          </a:p>
          <a:p>
            <a:r>
              <a:rPr lang="en-US" dirty="0"/>
              <a:t>(Layout)</a:t>
            </a:r>
          </a:p>
        </p:txBody>
      </p:sp>
    </p:spTree>
    <p:extLst>
      <p:ext uri="{BB962C8B-B14F-4D97-AF65-F5344CB8AC3E}">
        <p14:creationId xmlns:p14="http://schemas.microsoft.com/office/powerpoint/2010/main" val="9413698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Use Case: Willi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169139"/>
            <a:ext cx="3720570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Compare models: </a:t>
            </a:r>
          </a:p>
          <a:p>
            <a:r>
              <a:rPr lang="en-US" sz="2000" dirty="0"/>
              <a:t>highlight reactions </a:t>
            </a:r>
          </a:p>
          <a:p>
            <a:r>
              <a:rPr lang="en-US" sz="2000" dirty="0"/>
              <a:t>only existing in main model (gaps)</a:t>
            </a:r>
          </a:p>
          <a:p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layout main model</a:t>
            </a:r>
          </a:p>
          <a:p>
            <a:pPr marL="285750" indent="-285750">
              <a:buFontTx/>
              <a:buChar char="-"/>
            </a:pP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get list of reaction ids </a:t>
            </a:r>
          </a:p>
          <a:p>
            <a:r>
              <a:rPr lang="en-US" sz="2000" dirty="0"/>
              <a:t>     from sub model</a:t>
            </a:r>
          </a:p>
          <a:p>
            <a:endParaRPr lang="en-US" sz="2000" dirty="0"/>
          </a:p>
          <a:p>
            <a:pPr marL="342900" indent="-342900">
              <a:buFontTx/>
              <a:buChar char="-"/>
            </a:pPr>
            <a:r>
              <a:rPr lang="en-US" sz="2000" dirty="0"/>
              <a:t>apply coloring algorithm</a:t>
            </a:r>
          </a:p>
          <a:p>
            <a:pPr marL="342900" indent="-342900">
              <a:buFontTx/>
              <a:buChar char="-"/>
            </a:pPr>
            <a:endParaRPr lang="en-US" sz="2000" dirty="0"/>
          </a:p>
          <a:p>
            <a:r>
              <a:rPr lang="en-US" sz="2000" dirty="0">
                <a:sym typeface="Wingdings" panose="05000000000000000000" pitchFamily="2" charset="2"/>
              </a:rPr>
              <a:t> visual gap filling!</a:t>
            </a:r>
            <a:endParaRPr lang="en-US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r="26204"/>
          <a:stretch/>
        </p:blipFill>
        <p:spPr>
          <a:xfrm>
            <a:off x="5309049" y="0"/>
            <a:ext cx="61950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1444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7429" y="1097572"/>
            <a:ext cx="4617143" cy="466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39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539</TotalTime>
  <Words>700</Words>
  <Application>Microsoft Office PowerPoint</Application>
  <PresentationFormat>Widescreen</PresentationFormat>
  <Paragraphs>162</Paragraphs>
  <Slides>27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Wingdings</vt:lpstr>
      <vt:lpstr>Office</vt:lpstr>
      <vt:lpstr>MetaViz  Metabolic Network Maps</vt:lpstr>
      <vt:lpstr>Why develop another tool?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MetaViz Features (so far)</vt:lpstr>
      <vt:lpstr>What are groups?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MetaViz Features (so far)</vt:lpstr>
      <vt:lpstr>PowerPoint Presentation</vt:lpstr>
      <vt:lpstr>PowerPoint Presentation</vt:lpstr>
      <vt:lpstr>PowerPoint Presentation</vt:lpstr>
      <vt:lpstr>MetaViz Features (so far)</vt:lpstr>
      <vt:lpstr>PowerPoint Presentation</vt:lpstr>
      <vt:lpstr>PowerPoint Presentation</vt:lpstr>
      <vt:lpstr>PowerPoint Presentation</vt:lpstr>
      <vt:lpstr>PowerPoint Presentation</vt:lpstr>
      <vt:lpstr>Use Case: Stijn</vt:lpstr>
      <vt:lpstr>Use Case: Willi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Nicolas</dc:creator>
  <cp:lastModifiedBy>Nicolas</cp:lastModifiedBy>
  <cp:revision>134</cp:revision>
  <dcterms:created xsi:type="dcterms:W3CDTF">2016-11-14T08:52:22Z</dcterms:created>
  <dcterms:modified xsi:type="dcterms:W3CDTF">2017-02-09T14:48:26Z</dcterms:modified>
</cp:coreProperties>
</file>