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62" r:id="rId6"/>
    <p:sldId id="260" r:id="rId7"/>
    <p:sldId id="259" r:id="rId8"/>
    <p:sldId id="271" r:id="rId9"/>
    <p:sldId id="261" r:id="rId10"/>
    <p:sldId id="264" r:id="rId11"/>
    <p:sldId id="265" r:id="rId12"/>
    <p:sldId id="268" r:id="rId13"/>
    <p:sldId id="266" r:id="rId14"/>
    <p:sldId id="267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468" autoAdjust="0"/>
  </p:normalViewPr>
  <p:slideViewPr>
    <p:cSldViewPr snapToGrid="0">
      <p:cViewPr varScale="1">
        <p:scale>
          <a:sx n="64" d="100"/>
          <a:sy n="64" d="100"/>
        </p:scale>
        <p:origin x="15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09E78-F901-4DD5-B8D4-DCA3C110E740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FA7B-FE87-43A3-92F0-F3A27957A5F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6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332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</a:t>
            </a:r>
            <a:r>
              <a:rPr lang="en-US" dirty="0" err="1"/>
              <a:t>handdrawn</a:t>
            </a:r>
            <a:r>
              <a:rPr lang="en-US" baseline="0" dirty="0"/>
              <a:t> model first (.</a:t>
            </a:r>
            <a:r>
              <a:rPr lang="en-US" baseline="0" dirty="0" err="1"/>
              <a:t>svg</a:t>
            </a:r>
            <a:r>
              <a:rPr lang="en-US" baseline="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968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slightly</a:t>
            </a:r>
            <a:r>
              <a:rPr lang="de-DE" dirty="0"/>
              <a:t> different </a:t>
            </a:r>
            <a:r>
              <a:rPr lang="de-DE" dirty="0" err="1"/>
              <a:t>layout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4 </a:t>
            </a:r>
            <a:r>
              <a:rPr lang="de-DE" dirty="0" err="1"/>
              <a:t>species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been</a:t>
            </a:r>
            <a:r>
              <a:rPr lang="de-DE" dirty="0"/>
              <a:t> </a:t>
            </a:r>
            <a:r>
              <a:rPr lang="de-DE" dirty="0" err="1"/>
              <a:t>duplicated</a:t>
            </a:r>
            <a:r>
              <a:rPr lang="de-DE" dirty="0"/>
              <a:t>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either</a:t>
            </a:r>
            <a:r>
              <a:rPr lang="de-DE" dirty="0"/>
              <a:t> </a:t>
            </a:r>
            <a:r>
              <a:rPr lang="de-DE" dirty="0" err="1"/>
              <a:t>substrate</a:t>
            </a:r>
            <a:r>
              <a:rPr lang="de-DE" dirty="0"/>
              <a:t> (</a:t>
            </a:r>
            <a:r>
              <a:rPr lang="de-DE" dirty="0" err="1"/>
              <a:t>coming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extracellular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– </a:t>
            </a:r>
            <a:r>
              <a:rPr lang="de-DE" dirty="0" err="1"/>
              <a:t>blue</a:t>
            </a:r>
            <a:r>
              <a:rPr lang="de-DE" dirty="0"/>
              <a:t> </a:t>
            </a:r>
            <a:r>
              <a:rPr lang="de-DE" dirty="0" err="1"/>
              <a:t>square</a:t>
            </a:r>
            <a:r>
              <a:rPr lang="de-DE" dirty="0"/>
              <a:t>)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endproduct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the</a:t>
            </a:r>
            <a:r>
              <a:rPr lang="de-DE" baseline="0" dirty="0"/>
              <a:t> </a:t>
            </a:r>
            <a:r>
              <a:rPr lang="de-DE" baseline="0" dirty="0" err="1"/>
              <a:t>model</a:t>
            </a:r>
            <a:endParaRPr lang="de-DE" baseline="0" dirty="0"/>
          </a:p>
          <a:p>
            <a:endParaRPr lang="de-DE" baseline="0" dirty="0"/>
          </a:p>
          <a:p>
            <a:r>
              <a:rPr lang="de-DE" baseline="0" dirty="0"/>
              <a:t>-&gt; </a:t>
            </a:r>
            <a:r>
              <a:rPr lang="de-DE" baseline="0" dirty="0" err="1"/>
              <a:t>layouting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</a:t>
            </a:r>
            <a:r>
              <a:rPr lang="de-DE" baseline="0" dirty="0" err="1"/>
              <a:t>very</a:t>
            </a:r>
            <a:r>
              <a:rPr lang="de-DE" baseline="0" dirty="0"/>
              <a:t> </a:t>
            </a:r>
            <a:r>
              <a:rPr lang="de-DE" baseline="0" dirty="0" err="1"/>
              <a:t>organic</a:t>
            </a:r>
            <a:r>
              <a:rPr lang="de-DE" baseline="0" dirty="0"/>
              <a:t> </a:t>
            </a:r>
            <a:r>
              <a:rPr lang="de-DE" baseline="0" dirty="0" err="1"/>
              <a:t>and</a:t>
            </a:r>
            <a:r>
              <a:rPr lang="de-DE" baseline="0" dirty="0"/>
              <a:t> </a:t>
            </a:r>
            <a:r>
              <a:rPr lang="de-DE" baseline="0" dirty="0" err="1"/>
              <a:t>chooses</a:t>
            </a:r>
            <a:r>
              <a:rPr lang="de-DE" baseline="0" dirty="0"/>
              <a:t> </a:t>
            </a:r>
            <a:r>
              <a:rPr lang="de-DE" baseline="0" dirty="0" err="1"/>
              <a:t>sublayouts</a:t>
            </a:r>
            <a:r>
              <a:rPr lang="de-DE" baseline="0" dirty="0"/>
              <a:t> (</a:t>
            </a:r>
            <a:r>
              <a:rPr lang="de-DE" baseline="0" dirty="0" err="1"/>
              <a:t>circles</a:t>
            </a:r>
            <a:r>
              <a:rPr lang="de-DE" baseline="0" dirty="0"/>
              <a:t> etc.) due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connectivity</a:t>
            </a:r>
            <a:r>
              <a:rPr lang="de-DE" baseline="0" dirty="0"/>
              <a:t>, etc. </a:t>
            </a:r>
            <a:r>
              <a:rPr lang="de-DE" baseline="0" dirty="0" err="1"/>
              <a:t>and</a:t>
            </a:r>
            <a:r>
              <a:rPr lang="de-DE" baseline="0" dirty="0"/>
              <a:t> not </a:t>
            </a:r>
            <a:r>
              <a:rPr lang="de-DE" baseline="0" dirty="0" err="1"/>
              <a:t>because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biological</a:t>
            </a:r>
            <a:r>
              <a:rPr lang="de-DE" baseline="0" dirty="0"/>
              <a:t> </a:t>
            </a:r>
            <a:r>
              <a:rPr lang="de-DE" baseline="0" dirty="0" err="1"/>
              <a:t>reasons</a:t>
            </a:r>
            <a:r>
              <a:rPr lang="de-DE" baseline="0" dirty="0"/>
              <a:t>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475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green</a:t>
            </a:r>
            <a:r>
              <a:rPr lang="de-DE" dirty="0"/>
              <a:t> positive </a:t>
            </a:r>
            <a:r>
              <a:rPr lang="de-DE" dirty="0" err="1"/>
              <a:t>flux</a:t>
            </a:r>
            <a:endParaRPr lang="de-DE" dirty="0"/>
          </a:p>
          <a:p>
            <a:r>
              <a:rPr lang="de-DE" dirty="0" err="1"/>
              <a:t>red</a:t>
            </a:r>
            <a:r>
              <a:rPr lang="de-DE" dirty="0"/>
              <a:t> negative </a:t>
            </a:r>
            <a:r>
              <a:rPr lang="de-DE" dirty="0" err="1"/>
              <a:t>flux</a:t>
            </a:r>
            <a:endParaRPr lang="de-DE" dirty="0"/>
          </a:p>
          <a:p>
            <a:r>
              <a:rPr lang="de-DE" dirty="0" err="1"/>
              <a:t>grey</a:t>
            </a:r>
            <a:r>
              <a:rPr lang="de-DE" dirty="0"/>
              <a:t> </a:t>
            </a:r>
            <a:r>
              <a:rPr lang="de-DE" dirty="0" err="1"/>
              <a:t>zero</a:t>
            </a:r>
            <a:r>
              <a:rPr lang="de-DE" dirty="0"/>
              <a:t> </a:t>
            </a:r>
            <a:r>
              <a:rPr lang="de-DE" dirty="0" err="1"/>
              <a:t>flux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204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layouting</a:t>
            </a:r>
            <a:r>
              <a:rPr lang="de-DE" baseline="0" dirty="0"/>
              <a:t> </a:t>
            </a:r>
            <a:r>
              <a:rPr lang="de-DE" baseline="0" dirty="0" err="1"/>
              <a:t>of</a:t>
            </a:r>
            <a:r>
              <a:rPr lang="de-DE" baseline="0" dirty="0"/>
              <a:t> </a:t>
            </a:r>
            <a:r>
              <a:rPr lang="de-DE" baseline="0" dirty="0" err="1"/>
              <a:t>pathways</a:t>
            </a:r>
            <a:r>
              <a:rPr lang="de-DE" baseline="0" dirty="0"/>
              <a:t> still due </a:t>
            </a:r>
            <a:r>
              <a:rPr lang="de-DE" baseline="0" dirty="0" err="1"/>
              <a:t>to</a:t>
            </a:r>
            <a:r>
              <a:rPr lang="de-DE" baseline="0" dirty="0"/>
              <a:t> </a:t>
            </a:r>
            <a:r>
              <a:rPr lang="de-DE" baseline="0" dirty="0" err="1"/>
              <a:t>graph</a:t>
            </a:r>
            <a:r>
              <a:rPr lang="de-DE" baseline="0" dirty="0"/>
              <a:t> </a:t>
            </a:r>
            <a:r>
              <a:rPr lang="de-DE" baseline="0" dirty="0" err="1"/>
              <a:t>properties</a:t>
            </a:r>
            <a:r>
              <a:rPr lang="de-DE" baseline="0" dirty="0"/>
              <a:t> (</a:t>
            </a:r>
            <a:r>
              <a:rPr lang="de-DE" baseline="0" dirty="0" err="1"/>
              <a:t>connectivity</a:t>
            </a:r>
            <a:r>
              <a:rPr lang="de-DE" baseline="0" dirty="0"/>
              <a:t>), not </a:t>
            </a:r>
            <a:r>
              <a:rPr lang="de-DE" baseline="0" dirty="0" err="1"/>
              <a:t>biological</a:t>
            </a:r>
            <a:r>
              <a:rPr lang="de-DE" baseline="0" dirty="0"/>
              <a:t> </a:t>
            </a:r>
            <a:r>
              <a:rPr lang="de-DE" baseline="0" dirty="0" err="1"/>
              <a:t>reasons</a:t>
            </a:r>
            <a:r>
              <a:rPr lang="de-DE" baseline="0" dirty="0"/>
              <a:t> =&gt; TCA </a:t>
            </a:r>
            <a:r>
              <a:rPr lang="de-DE" baseline="0" dirty="0" err="1"/>
              <a:t>cycle</a:t>
            </a:r>
            <a:r>
              <a:rPr lang="de-DE" baseline="0" dirty="0"/>
              <a:t> </a:t>
            </a:r>
            <a:r>
              <a:rPr lang="de-DE" baseline="0" dirty="0" err="1"/>
              <a:t>for</a:t>
            </a:r>
            <a:r>
              <a:rPr lang="de-DE" baseline="0" dirty="0"/>
              <a:t> </a:t>
            </a:r>
            <a:r>
              <a:rPr lang="de-DE" baseline="0" dirty="0" err="1"/>
              <a:t>instance</a:t>
            </a:r>
            <a:r>
              <a:rPr lang="de-DE" baseline="0" dirty="0"/>
              <a:t> </a:t>
            </a:r>
            <a:r>
              <a:rPr lang="de-DE" baseline="0" dirty="0" err="1"/>
              <a:t>is</a:t>
            </a:r>
            <a:r>
              <a:rPr lang="de-DE" baseline="0" dirty="0"/>
              <a:t> not </a:t>
            </a:r>
            <a:r>
              <a:rPr lang="de-DE" baseline="0" dirty="0" err="1"/>
              <a:t>drawn</a:t>
            </a:r>
            <a:r>
              <a:rPr lang="de-DE" baseline="0" dirty="0"/>
              <a:t> </a:t>
            </a:r>
            <a:r>
              <a:rPr lang="de-DE" baseline="0" dirty="0" err="1"/>
              <a:t>with</a:t>
            </a:r>
            <a:r>
              <a:rPr lang="de-DE" baseline="0" dirty="0"/>
              <a:t> </a:t>
            </a:r>
            <a:r>
              <a:rPr lang="de-DE" baseline="0" dirty="0" err="1"/>
              <a:t>circular</a:t>
            </a:r>
            <a:r>
              <a:rPr lang="de-DE" baseline="0" dirty="0"/>
              <a:t> </a:t>
            </a:r>
            <a:r>
              <a:rPr lang="de-DE" baseline="0" dirty="0" err="1"/>
              <a:t>layout</a:t>
            </a:r>
            <a:r>
              <a:rPr lang="de-DE" baseline="0" dirty="0"/>
              <a:t>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006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9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17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6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0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46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62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17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47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4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37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5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EEBCB-43CE-4F26-AEFA-10C32BBCF6A7}" type="datetimeFigureOut">
              <a:rPr lang="de-DE" smtClean="0"/>
              <a:t>18.11.2016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02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Metabolic Pathway Maps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Practical, Nicolas Huber</a:t>
            </a:r>
          </a:p>
          <a:p>
            <a:r>
              <a:rPr lang="en-US" dirty="0"/>
              <a:t>Supervisors: Prof. Bas </a:t>
            </a:r>
            <a:r>
              <a:rPr lang="en-US" dirty="0" err="1"/>
              <a:t>Teusink</a:t>
            </a:r>
            <a:r>
              <a:rPr lang="en-US" dirty="0"/>
              <a:t>, Dr. Brett Olivier</a:t>
            </a:r>
          </a:p>
        </p:txBody>
      </p:sp>
    </p:spTree>
    <p:extLst>
      <p:ext uri="{BB962C8B-B14F-4D97-AF65-F5344CB8AC3E}">
        <p14:creationId xmlns:p14="http://schemas.microsoft.com/office/powerpoint/2010/main" val="69338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develop another</a:t>
            </a:r>
            <a:r>
              <a:rPr lang="de-DE" dirty="0"/>
              <a:t> </a:t>
            </a:r>
            <a:r>
              <a:rPr lang="en-US" dirty="0"/>
              <a:t>tool</a:t>
            </a:r>
            <a:r>
              <a:rPr lang="de-DE" dirty="0"/>
              <a:t>?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5774"/>
          <a:stretch/>
        </p:blipFill>
        <p:spPr>
          <a:xfrm>
            <a:off x="1324060" y="1553467"/>
            <a:ext cx="9543880" cy="499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12241" r="27951" b="14098"/>
          <a:stretch/>
        </p:blipFill>
        <p:spPr>
          <a:xfrm>
            <a:off x="3807502" y="62191"/>
            <a:ext cx="8324538" cy="505472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84617" y="198938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Vanted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" t="11147" r="23770" b="10382"/>
          <a:stretch/>
        </p:blipFill>
        <p:spPr>
          <a:xfrm>
            <a:off x="3212892" y="62191"/>
            <a:ext cx="8919148" cy="53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4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12241" r="27951" b="14098"/>
          <a:stretch/>
        </p:blipFill>
        <p:spPr>
          <a:xfrm>
            <a:off x="3807502" y="62191"/>
            <a:ext cx="8324538" cy="505472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84617" y="198938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OptFlux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1" t="18798" r="16516" b="12787"/>
          <a:stretch/>
        </p:blipFill>
        <p:spPr>
          <a:xfrm>
            <a:off x="3650586" y="-89943"/>
            <a:ext cx="8707468" cy="586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8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12241" r="27951" b="14098"/>
          <a:stretch/>
        </p:blipFill>
        <p:spPr>
          <a:xfrm>
            <a:off x="3807502" y="62191"/>
            <a:ext cx="8324538" cy="505472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84617" y="1989386"/>
            <a:ext cx="27917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MetDraw</a:t>
            </a:r>
            <a:endParaRPr lang="en-US" sz="3600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 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2467988" y="5426439"/>
            <a:ext cx="72560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automatic layout algorithms generate messy "hairballs"! </a:t>
            </a:r>
          </a:p>
          <a:p>
            <a:pPr algn="ctr"/>
            <a:r>
              <a:rPr lang="en-US" sz="2400" dirty="0"/>
              <a:t>&lt;-&gt; </a:t>
            </a:r>
          </a:p>
          <a:p>
            <a:pPr algn="ctr"/>
            <a:r>
              <a:rPr lang="en-US" sz="2400" dirty="0"/>
              <a:t>manual </a:t>
            </a:r>
            <a:r>
              <a:rPr lang="en-US" sz="2400" dirty="0" err="1"/>
              <a:t>layouting</a:t>
            </a:r>
            <a:r>
              <a:rPr lang="en-US" sz="2400" dirty="0"/>
              <a:t> takes away valuable time! </a:t>
            </a:r>
          </a:p>
        </p:txBody>
      </p:sp>
    </p:spTree>
    <p:extLst>
      <p:ext uri="{BB962C8B-B14F-4D97-AF65-F5344CB8AC3E}">
        <p14:creationId xmlns:p14="http://schemas.microsoft.com/office/powerpoint/2010/main" val="407793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9" t="12679" r="18852" b="8851"/>
          <a:stretch/>
        </p:blipFill>
        <p:spPr>
          <a:xfrm>
            <a:off x="5026704" y="145234"/>
            <a:ext cx="7165296" cy="5426880"/>
          </a:xfrm>
          <a:prstGeom prst="rect">
            <a:avLst/>
          </a:prstGeom>
        </p:spPr>
      </p:pic>
      <p:sp>
        <p:nvSpPr>
          <p:cNvPr id="8" name="Textfeld 4"/>
          <p:cNvSpPr txBox="1"/>
          <p:nvPr/>
        </p:nvSpPr>
        <p:spPr>
          <a:xfrm>
            <a:off x="584617" y="198938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Mimoza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617" y="5816179"/>
            <a:ext cx="45107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automatically generated layout </a:t>
            </a:r>
          </a:p>
          <a:p>
            <a:r>
              <a:rPr lang="en-US" sz="2400" dirty="0"/>
              <a:t>that structures the network graph!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550" y="5816174"/>
            <a:ext cx="5971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does the algorithm work?</a:t>
            </a:r>
          </a:p>
          <a:p>
            <a:r>
              <a:rPr lang="en-US" sz="2400" dirty="0"/>
              <a:t>also possible for larger, genome-scale models?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291528" y="6231672"/>
            <a:ext cx="53964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764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9784" y="6229366"/>
            <a:ext cx="11968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Tulip Layout Algorithms		 …				 are called under certain conditions (connectivity) 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826177" y="3848720"/>
            <a:ext cx="53964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9783" y="365991"/>
            <a:ext cx="98485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Mimoza</a:t>
            </a:r>
            <a:r>
              <a:rPr lang="en-US" sz="2400" dirty="0"/>
              <a:t> uses the Tulip Python API: </a:t>
            </a:r>
          </a:p>
          <a:p>
            <a:r>
              <a:rPr lang="en-US" sz="2400" i="1" dirty="0"/>
              <a:t>"Tulip is an information visualization framework written in C++ dedicated to the analysis and visualization of graphs."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86" r="58197" b="17596"/>
          <a:stretch/>
        </p:blipFill>
        <p:spPr>
          <a:xfrm>
            <a:off x="329784" y="1718577"/>
            <a:ext cx="5096656" cy="43148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549" y="124823"/>
            <a:ext cx="1664658" cy="150651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12" r="52213" b="20656"/>
          <a:stretch/>
        </p:blipFill>
        <p:spPr>
          <a:xfrm>
            <a:off x="6765560" y="3057994"/>
            <a:ext cx="5826177" cy="155897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749508" y="3440643"/>
            <a:ext cx="1139253" cy="35976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190024" y="3946965"/>
            <a:ext cx="1073897" cy="20531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1064302" y="4871804"/>
            <a:ext cx="29380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78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2" t="20765" r="9791" b="20656"/>
          <a:stretch/>
        </p:blipFill>
        <p:spPr>
          <a:xfrm>
            <a:off x="733102" y="1274165"/>
            <a:ext cx="10725796" cy="4706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46849" y="197751"/>
            <a:ext cx="269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toymodel</a:t>
            </a:r>
            <a:r>
              <a:rPr lang="en-US" dirty="0"/>
              <a:t> biofuel</a:t>
            </a:r>
          </a:p>
          <a:p>
            <a:r>
              <a:rPr lang="en-US" dirty="0"/>
              <a:t>19 species</a:t>
            </a:r>
          </a:p>
        </p:txBody>
      </p:sp>
    </p:spTree>
    <p:extLst>
      <p:ext uri="{BB962C8B-B14F-4D97-AF65-F5344CB8AC3E}">
        <p14:creationId xmlns:p14="http://schemas.microsoft.com/office/powerpoint/2010/main" val="1532017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599607" y="1466458"/>
            <a:ext cx="10940926" cy="4985220"/>
            <a:chOff x="599607" y="971788"/>
            <a:chExt cx="10940926" cy="4985220"/>
          </a:xfrm>
        </p:grpSpPr>
        <p:pic>
          <p:nvPicPr>
            <p:cNvPr id="1028" name="Picture 4" descr="file:///C:/Users/Nicolas/surfdrive/LabR1_Teusink_Amsterdam/Project/sphinx_doc/_build/_static/toymodel_root_after_color_edges.png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54" t="3156" b="3727"/>
            <a:stretch/>
          </p:blipFill>
          <p:spPr bwMode="auto">
            <a:xfrm>
              <a:off x="7367059" y="971788"/>
              <a:ext cx="4173474" cy="4985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Arrow: Right 3"/>
            <p:cNvSpPr/>
            <p:nvPr/>
          </p:nvSpPr>
          <p:spPr>
            <a:xfrm>
              <a:off x="6031195" y="3189156"/>
              <a:ext cx="1199213" cy="53964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 descr="file:///C:/Users/Nicolas/surfdrive/LabR1_Teusink_Amsterdam/Project/sphinx_doc/_build/_static/toymodel_testGraph1.pn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21" t="4809" b="6230"/>
            <a:stretch/>
          </p:blipFill>
          <p:spPr bwMode="auto">
            <a:xfrm>
              <a:off x="599607" y="971788"/>
              <a:ext cx="5294938" cy="4974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>
            <a:off x="4746849" y="197751"/>
            <a:ext cx="269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toymodel</a:t>
            </a:r>
            <a:r>
              <a:rPr lang="en-US" dirty="0"/>
              <a:t> biofuel</a:t>
            </a:r>
          </a:p>
          <a:p>
            <a:r>
              <a:rPr lang="en-US" dirty="0"/>
              <a:t>19 species</a:t>
            </a:r>
          </a:p>
        </p:txBody>
      </p:sp>
    </p:spTree>
    <p:extLst>
      <p:ext uri="{BB962C8B-B14F-4D97-AF65-F5344CB8AC3E}">
        <p14:creationId xmlns:p14="http://schemas.microsoft.com/office/powerpoint/2010/main" val="3671265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8" t="13114" r="20081" b="13881"/>
          <a:stretch/>
        </p:blipFill>
        <p:spPr>
          <a:xfrm>
            <a:off x="1463832" y="809468"/>
            <a:ext cx="9259340" cy="58461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46849" y="197751"/>
            <a:ext cx="269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  <a:r>
              <a:rPr lang="en-US" dirty="0" err="1"/>
              <a:t>toymodel</a:t>
            </a:r>
            <a:r>
              <a:rPr lang="en-US" dirty="0"/>
              <a:t> biofuel</a:t>
            </a:r>
          </a:p>
          <a:p>
            <a:r>
              <a:rPr lang="en-US" dirty="0"/>
              <a:t>19 species</a:t>
            </a:r>
          </a:p>
        </p:txBody>
      </p:sp>
    </p:spTree>
    <p:extLst>
      <p:ext uri="{BB962C8B-B14F-4D97-AF65-F5344CB8AC3E}">
        <p14:creationId xmlns:p14="http://schemas.microsoft.com/office/powerpoint/2010/main" val="923272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9567" y="464695"/>
            <a:ext cx="694773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(0.   Learn more about Python,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, SBML Level 3)  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1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.   Find and test existing model visualization tools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2.   Understand the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Mimoza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source code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	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3.   Extract the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layouting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part 	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			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49909" y="3972949"/>
            <a:ext cx="90420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4.  Write code that takes </a:t>
            </a:r>
            <a:r>
              <a:rPr lang="en-US" sz="2400" b="1" dirty="0" err="1"/>
              <a:t>layouting</a:t>
            </a:r>
            <a:r>
              <a:rPr lang="en-US" sz="2400" b="1" dirty="0"/>
              <a:t> basics from </a:t>
            </a:r>
            <a:r>
              <a:rPr lang="en-US" sz="2400" b="1" dirty="0" err="1"/>
              <a:t>Mimoza</a:t>
            </a:r>
            <a:r>
              <a:rPr lang="en-US" sz="2400" b="1" dirty="0"/>
              <a:t> </a:t>
            </a:r>
          </a:p>
          <a:p>
            <a:r>
              <a:rPr lang="en-US" sz="2400" dirty="0"/>
              <a:t>      </a:t>
            </a:r>
          </a:p>
          <a:p>
            <a:r>
              <a:rPr lang="en-US" sz="2400" dirty="0"/>
              <a:t>      and applies </a:t>
            </a:r>
            <a:r>
              <a:rPr lang="en-US" sz="2400" b="1" dirty="0"/>
              <a:t>additional Tulip functions </a:t>
            </a:r>
          </a:p>
          <a:p>
            <a:r>
              <a:rPr lang="en-US" sz="2400" dirty="0"/>
              <a:t>      </a:t>
            </a:r>
          </a:p>
          <a:p>
            <a:r>
              <a:rPr lang="en-US" sz="2400" dirty="0"/>
              <a:t>      to </a:t>
            </a:r>
            <a:r>
              <a:rPr lang="en-US" sz="2400" b="1" dirty="0"/>
              <a:t>generate structured layout </a:t>
            </a:r>
            <a:r>
              <a:rPr lang="en-US" sz="2400" dirty="0"/>
              <a:t>even for large, genome-scale models </a:t>
            </a:r>
          </a:p>
        </p:txBody>
      </p:sp>
      <p:sp>
        <p:nvSpPr>
          <p:cNvPr id="6" name="Arrow: Bent-Up 5"/>
          <p:cNvSpPr/>
          <p:nvPr/>
        </p:nvSpPr>
        <p:spPr>
          <a:xfrm rot="5400000">
            <a:off x="1514006" y="3823048"/>
            <a:ext cx="1334125" cy="1633927"/>
          </a:xfrm>
          <a:prstGeom prst="bent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05062" y="6202334"/>
            <a:ext cx="798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(+ additional functionality such as overlaying FBA results, etc.!)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915" y="4106745"/>
            <a:ext cx="14366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00B050"/>
                </a:solidFill>
              </a:rPr>
              <a:t>(✓)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21083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1" r="10885"/>
          <a:stretch/>
        </p:blipFill>
        <p:spPr>
          <a:xfrm>
            <a:off x="3147934" y="0"/>
            <a:ext cx="888916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9823" y="3013501"/>
            <a:ext cx="2466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E. coli, </a:t>
            </a:r>
            <a:r>
              <a:rPr lang="de-DE" sz="2400" dirty="0" err="1"/>
              <a:t>core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endParaRPr lang="de-DE" sz="2400" dirty="0"/>
          </a:p>
          <a:p>
            <a:r>
              <a:rPr lang="de-DE" sz="2400" dirty="0"/>
              <a:t>Carlson, 2003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0693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4" t="9922" r="5064" b="11494"/>
          <a:stretch/>
        </p:blipFill>
        <p:spPr>
          <a:xfrm>
            <a:off x="1643920" y="539645"/>
            <a:ext cx="8904160" cy="58161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9762" y="2729327"/>
            <a:ext cx="33661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FBA results (with </a:t>
            </a:r>
            <a:r>
              <a:rPr lang="en-US" sz="2400" dirty="0" err="1"/>
              <a:t>cbmpy</a:t>
            </a:r>
            <a:r>
              <a:rPr lang="en-US" sz="2400" dirty="0"/>
              <a:t>):</a:t>
            </a:r>
          </a:p>
          <a:p>
            <a:r>
              <a:rPr lang="en-US" sz="2400" dirty="0"/>
              <a:t>green </a:t>
            </a:r>
            <a:r>
              <a:rPr lang="de-DE" sz="2400" dirty="0"/>
              <a:t>= </a:t>
            </a:r>
            <a:r>
              <a:rPr lang="en-US" sz="2400" dirty="0"/>
              <a:t> positive flux</a:t>
            </a:r>
          </a:p>
          <a:p>
            <a:r>
              <a:rPr lang="en-US" sz="2400" dirty="0"/>
              <a:t>red</a:t>
            </a:r>
            <a:r>
              <a:rPr lang="de-DE" sz="2400" dirty="0"/>
              <a:t> =</a:t>
            </a:r>
            <a:r>
              <a:rPr lang="en-US" sz="2400" dirty="0"/>
              <a:t> negative flux</a:t>
            </a:r>
          </a:p>
          <a:p>
            <a:r>
              <a:rPr lang="en-US" sz="2400" dirty="0"/>
              <a:t>grey = zero flux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938479" y="5171607"/>
            <a:ext cx="1064301" cy="1543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2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5" t="9569" r="5544" b="12298"/>
          <a:stretch/>
        </p:blipFill>
        <p:spPr>
          <a:xfrm>
            <a:off x="1739719" y="494675"/>
            <a:ext cx="8712563" cy="57562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938479" y="5171607"/>
            <a:ext cx="1064301" cy="1543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88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9" r="14316"/>
          <a:stretch/>
        </p:blipFill>
        <p:spPr>
          <a:xfrm>
            <a:off x="3013023" y="0"/>
            <a:ext cx="8589364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4774" y="524655"/>
            <a:ext cx="2902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H. </a:t>
            </a:r>
            <a:r>
              <a:rPr lang="de-DE" dirty="0" err="1"/>
              <a:t>pylori</a:t>
            </a:r>
            <a:endParaRPr lang="de-DE" dirty="0"/>
          </a:p>
          <a:p>
            <a:r>
              <a:rPr lang="de-DE" dirty="0" err="1"/>
              <a:t>genome-scale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(iIT341)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714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6756" y="1361080"/>
            <a:ext cx="883543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Improve</a:t>
            </a:r>
            <a:r>
              <a:rPr lang="de-DE" sz="2400" dirty="0"/>
              <a:t> Layout:</a:t>
            </a:r>
          </a:p>
          <a:p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 err="1"/>
              <a:t>take</a:t>
            </a:r>
            <a:r>
              <a:rPr lang="de-DE" sz="2400" dirty="0"/>
              <a:t> </a:t>
            </a:r>
            <a:r>
              <a:rPr lang="de-DE" sz="2400" b="1" dirty="0" err="1"/>
              <a:t>group</a:t>
            </a:r>
            <a:r>
              <a:rPr lang="de-DE" sz="2400" b="1" dirty="0"/>
              <a:t> </a:t>
            </a:r>
            <a:r>
              <a:rPr lang="de-DE" sz="2400" b="1" dirty="0" err="1"/>
              <a:t>information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SBML (</a:t>
            </a:r>
            <a:r>
              <a:rPr lang="de-DE" sz="2400" dirty="0" err="1"/>
              <a:t>if</a:t>
            </a:r>
            <a:r>
              <a:rPr lang="de-DE" sz="2400" dirty="0"/>
              <a:t> </a:t>
            </a:r>
            <a:r>
              <a:rPr lang="de-DE" sz="2400" dirty="0" err="1"/>
              <a:t>provided</a:t>
            </a:r>
            <a:r>
              <a:rPr lang="de-DE" sz="2400" dirty="0"/>
              <a:t>) </a:t>
            </a:r>
          </a:p>
          <a:p>
            <a:r>
              <a:rPr lang="de-DE" sz="2400" dirty="0"/>
              <a:t>    </a:t>
            </a:r>
            <a:r>
              <a:rPr lang="de-DE" sz="2400" dirty="0" err="1"/>
              <a:t>and</a:t>
            </a:r>
            <a:r>
              <a:rPr lang="de-DE" sz="2400" dirty="0"/>
              <a:t> </a:t>
            </a:r>
            <a:r>
              <a:rPr lang="de-DE" sz="2400" dirty="0" err="1"/>
              <a:t>redraw</a:t>
            </a:r>
            <a:r>
              <a:rPr lang="de-DE" sz="2400" dirty="0"/>
              <a:t> individual </a:t>
            </a:r>
            <a:r>
              <a:rPr lang="de-DE" sz="2400" dirty="0" err="1"/>
              <a:t>pathways</a:t>
            </a:r>
            <a:r>
              <a:rPr lang="de-DE" sz="2400" dirty="0"/>
              <a:t> (</a:t>
            </a:r>
            <a:r>
              <a:rPr lang="de-DE" sz="2400" dirty="0" err="1"/>
              <a:t>make</a:t>
            </a:r>
            <a:r>
              <a:rPr lang="de-DE" sz="2400" dirty="0"/>
              <a:t> TCA </a:t>
            </a:r>
            <a:r>
              <a:rPr lang="de-DE" sz="2400" dirty="0" err="1"/>
              <a:t>circular</a:t>
            </a:r>
            <a:r>
              <a:rPr lang="de-DE" sz="2400" dirty="0"/>
              <a:t>, etc.)</a:t>
            </a:r>
          </a:p>
          <a:p>
            <a:pPr marL="285750" indent="-285750">
              <a:buFontTx/>
              <a:buChar char="-"/>
            </a:pPr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/>
              <a:t>large </a:t>
            </a:r>
            <a:r>
              <a:rPr lang="de-DE" sz="2400" dirty="0" err="1"/>
              <a:t>networks</a:t>
            </a:r>
            <a:r>
              <a:rPr lang="de-DE" sz="2400" dirty="0"/>
              <a:t>: </a:t>
            </a:r>
            <a:r>
              <a:rPr lang="de-DE" sz="2400" dirty="0" err="1"/>
              <a:t>automatically</a:t>
            </a:r>
            <a:r>
              <a:rPr lang="de-DE" sz="2400" dirty="0"/>
              <a:t> </a:t>
            </a:r>
            <a:r>
              <a:rPr lang="de-DE" sz="2400" b="1" dirty="0" err="1"/>
              <a:t>assign</a:t>
            </a:r>
            <a:r>
              <a:rPr lang="de-DE" sz="2400" b="1" dirty="0"/>
              <a:t> </a:t>
            </a:r>
            <a:r>
              <a:rPr lang="de-DE" sz="2400" b="1" dirty="0" err="1"/>
              <a:t>regions</a:t>
            </a:r>
            <a:r>
              <a:rPr lang="de-DE" sz="2400" dirty="0"/>
              <a:t> </a:t>
            </a:r>
          </a:p>
          <a:p>
            <a:r>
              <a:rPr lang="de-DE" sz="2400" dirty="0"/>
              <a:t>    </a:t>
            </a:r>
            <a:r>
              <a:rPr lang="de-DE" sz="2400" dirty="0" err="1"/>
              <a:t>for</a:t>
            </a:r>
            <a:r>
              <a:rPr lang="de-DE" sz="2400" dirty="0"/>
              <a:t> different </a:t>
            </a:r>
            <a:r>
              <a:rPr lang="de-DE" sz="2400" dirty="0" err="1"/>
              <a:t>parts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graph</a:t>
            </a:r>
            <a:r>
              <a:rPr lang="de-DE" sz="2400" dirty="0"/>
              <a:t> (</a:t>
            </a:r>
            <a:r>
              <a:rPr lang="de-DE" sz="2400" dirty="0" err="1"/>
              <a:t>transport</a:t>
            </a:r>
            <a:r>
              <a:rPr lang="de-DE" sz="2400" dirty="0"/>
              <a:t> </a:t>
            </a:r>
            <a:r>
              <a:rPr lang="de-DE" sz="2400" dirty="0" err="1"/>
              <a:t>regions</a:t>
            </a:r>
            <a:r>
              <a:rPr lang="de-DE" sz="2400" dirty="0"/>
              <a:t> </a:t>
            </a:r>
            <a:r>
              <a:rPr lang="de-DE" sz="2400" dirty="0" err="1"/>
              <a:t>along</a:t>
            </a:r>
            <a:r>
              <a:rPr lang="de-DE" sz="2400" dirty="0"/>
              <a:t> </a:t>
            </a:r>
            <a:r>
              <a:rPr lang="de-DE" sz="2400" dirty="0" err="1"/>
              <a:t>edges</a:t>
            </a:r>
            <a:r>
              <a:rPr lang="de-DE" sz="2400" dirty="0"/>
              <a:t> etc. )</a:t>
            </a:r>
          </a:p>
          <a:p>
            <a:pPr marL="285750" indent="-285750">
              <a:buFontTx/>
              <a:buChar char="-"/>
            </a:pPr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/>
              <a:t>… </a:t>
            </a:r>
          </a:p>
          <a:p>
            <a:pPr marL="285750" indent="-285750">
              <a:buFontTx/>
              <a:buChar char="-"/>
            </a:pPr>
            <a:endParaRPr lang="de-DE" sz="2400" dirty="0"/>
          </a:p>
          <a:p>
            <a:r>
              <a:rPr lang="de-DE" sz="2400" dirty="0" err="1"/>
              <a:t>Incorporate</a:t>
            </a:r>
            <a:r>
              <a:rPr lang="de-DE" sz="2400" dirty="0"/>
              <a:t> </a:t>
            </a:r>
            <a:r>
              <a:rPr lang="de-DE" sz="2400" dirty="0" err="1"/>
              <a:t>into</a:t>
            </a:r>
            <a:r>
              <a:rPr lang="de-DE" sz="2400" dirty="0"/>
              <a:t> </a:t>
            </a:r>
            <a:r>
              <a:rPr lang="de-DE" sz="2400" dirty="0" err="1"/>
              <a:t>MetaToolkit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52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</TotalTime>
  <Words>389</Words>
  <Application>Microsoft Office PowerPoint</Application>
  <PresentationFormat>Widescreen</PresentationFormat>
  <Paragraphs>78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</vt:lpstr>
      <vt:lpstr>Metabolic Pathway Maps</vt:lpstr>
      <vt:lpstr>Why develop another tool?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Nicolas</dc:creator>
  <cp:lastModifiedBy>Nicolas</cp:lastModifiedBy>
  <cp:revision>41</cp:revision>
  <dcterms:created xsi:type="dcterms:W3CDTF">2016-11-14T08:52:22Z</dcterms:created>
  <dcterms:modified xsi:type="dcterms:W3CDTF">2016-11-18T08:24:22Z</dcterms:modified>
</cp:coreProperties>
</file>